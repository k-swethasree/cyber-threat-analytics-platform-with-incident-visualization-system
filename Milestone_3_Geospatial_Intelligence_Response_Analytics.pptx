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21-Aug-26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21-Aug-26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21-Aug-26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21-Aug-26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25"/>
            <a:ext cx="12191695" cy="685800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1225677"/>
            <a:ext cx="10058400" cy="457200"/>
          </a:xfrm>
          <a:prstGeom prst="rect">
            <a:avLst/>
          </a:prstGeom>
          <a:noFill/>
        </p:spPr>
        <p:txBody>
          <a:bodyPr wrap="square">
            <a:spAutoFit/>
          </a:bodyPr>
          <a:lstStyle/>
          <a:p>
            <a:pPr algn="l"/>
            <a:r>
              <a:rPr sz="2100" b="1" dirty="0">
                <a:solidFill>
                  <a:srgbClr val="36B8E0"/>
                </a:solidFill>
                <a:latin typeface="Aptos"/>
              </a:rPr>
              <a:t>MILESTONE 3</a:t>
            </a:r>
          </a:p>
        </p:txBody>
      </p:sp>
      <p:sp>
        <p:nvSpPr>
          <p:cNvPr id="4" name="TextBox 3"/>
          <p:cNvSpPr txBox="1"/>
          <p:nvPr/>
        </p:nvSpPr>
        <p:spPr>
          <a:xfrm>
            <a:off x="627888" y="1592389"/>
            <a:ext cx="10515600" cy="1234440"/>
          </a:xfrm>
          <a:prstGeom prst="rect">
            <a:avLst/>
          </a:prstGeom>
          <a:noFill/>
        </p:spPr>
        <p:txBody>
          <a:bodyPr wrap="square">
            <a:spAutoFit/>
          </a:bodyPr>
          <a:lstStyle/>
          <a:p>
            <a:pPr algn="l"/>
            <a:r>
              <a:rPr sz="4000" b="1" dirty="0">
                <a:solidFill>
                  <a:srgbClr val="FFFFFF"/>
                </a:solidFill>
                <a:latin typeface="Aptos"/>
              </a:rPr>
              <a:t>Geospatial Intelligence
&amp; Response Analytics</a:t>
            </a:r>
          </a:p>
        </p:txBody>
      </p:sp>
      <p:sp>
        <p:nvSpPr>
          <p:cNvPr id="5" name="TextBox 4"/>
          <p:cNvSpPr txBox="1"/>
          <p:nvPr/>
        </p:nvSpPr>
        <p:spPr>
          <a:xfrm>
            <a:off x="685800" y="2973133"/>
            <a:ext cx="9875520" cy="411480"/>
          </a:xfrm>
          <a:prstGeom prst="rect">
            <a:avLst/>
          </a:prstGeom>
          <a:noFill/>
        </p:spPr>
        <p:txBody>
          <a:bodyPr wrap="square">
            <a:spAutoFit/>
          </a:bodyPr>
          <a:lstStyle/>
          <a:p>
            <a:pPr algn="l"/>
            <a:r>
              <a:rPr sz="1700" b="0" dirty="0">
                <a:solidFill>
                  <a:srgbClr val="CDDCEE"/>
                </a:solidFill>
                <a:latin typeface="Aptos"/>
              </a:rPr>
              <a:t>From threat location to risk-aware resource deployment</a:t>
            </a:r>
          </a:p>
        </p:txBody>
      </p:sp>
      <p:sp>
        <p:nvSpPr>
          <p:cNvPr id="6" name="Rounded Rectangle 5"/>
          <p:cNvSpPr/>
          <p:nvPr/>
        </p:nvSpPr>
        <p:spPr>
          <a:xfrm>
            <a:off x="685800" y="4572000"/>
            <a:ext cx="2578608" cy="914400"/>
          </a:xfrm>
          <a:prstGeom prst="roundRect">
            <a:avLst/>
          </a:prstGeom>
          <a:solidFill>
            <a:srgbClr val="142848"/>
          </a:solidFill>
          <a:ln>
            <a:solidFill>
              <a:srgbClr val="374F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4718304"/>
            <a:ext cx="411480" cy="228600"/>
          </a:xfrm>
          <a:prstGeom prst="rect">
            <a:avLst/>
          </a:prstGeom>
          <a:noFill/>
        </p:spPr>
        <p:txBody>
          <a:bodyPr wrap="square">
            <a:spAutoFit/>
          </a:bodyPr>
          <a:lstStyle/>
          <a:p>
            <a:pPr algn="l"/>
            <a:r>
              <a:rPr sz="1000" b="1">
                <a:solidFill>
                  <a:srgbClr val="36B8E0"/>
                </a:solidFill>
                <a:latin typeface="Aptos"/>
              </a:rPr>
              <a:t>01</a:t>
            </a:r>
          </a:p>
        </p:txBody>
      </p:sp>
      <p:sp>
        <p:nvSpPr>
          <p:cNvPr id="8" name="TextBox 7"/>
          <p:cNvSpPr txBox="1"/>
          <p:nvPr/>
        </p:nvSpPr>
        <p:spPr>
          <a:xfrm>
            <a:off x="850392" y="5001768"/>
            <a:ext cx="2194560" cy="365760"/>
          </a:xfrm>
          <a:prstGeom prst="rect">
            <a:avLst/>
          </a:prstGeom>
          <a:noFill/>
        </p:spPr>
        <p:txBody>
          <a:bodyPr wrap="square">
            <a:spAutoFit/>
          </a:bodyPr>
          <a:lstStyle/>
          <a:p>
            <a:pPr algn="l"/>
            <a:r>
              <a:rPr sz="1200" b="1">
                <a:solidFill>
                  <a:srgbClr val="FFFFFF"/>
                </a:solidFill>
                <a:latin typeface="Aptos"/>
              </a:rPr>
              <a:t>WHERE are the threats?</a:t>
            </a:r>
          </a:p>
        </p:txBody>
      </p:sp>
      <p:sp>
        <p:nvSpPr>
          <p:cNvPr id="9" name="Rounded Rectangle 8"/>
          <p:cNvSpPr/>
          <p:nvPr/>
        </p:nvSpPr>
        <p:spPr>
          <a:xfrm>
            <a:off x="3538728" y="4572000"/>
            <a:ext cx="2578608" cy="914400"/>
          </a:xfrm>
          <a:prstGeom prst="roundRect">
            <a:avLst/>
          </a:prstGeom>
          <a:solidFill>
            <a:srgbClr val="142848"/>
          </a:solidFill>
          <a:ln>
            <a:solidFill>
              <a:srgbClr val="374F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03320" y="4718304"/>
            <a:ext cx="411480" cy="228600"/>
          </a:xfrm>
          <a:prstGeom prst="rect">
            <a:avLst/>
          </a:prstGeom>
          <a:noFill/>
        </p:spPr>
        <p:txBody>
          <a:bodyPr wrap="square">
            <a:spAutoFit/>
          </a:bodyPr>
          <a:lstStyle/>
          <a:p>
            <a:pPr algn="l"/>
            <a:r>
              <a:rPr sz="1000" b="1">
                <a:solidFill>
                  <a:srgbClr val="36B8E0"/>
                </a:solidFill>
                <a:latin typeface="Aptos"/>
              </a:rPr>
              <a:t>02</a:t>
            </a:r>
          </a:p>
        </p:txBody>
      </p:sp>
      <p:sp>
        <p:nvSpPr>
          <p:cNvPr id="11" name="TextBox 10"/>
          <p:cNvSpPr txBox="1"/>
          <p:nvPr/>
        </p:nvSpPr>
        <p:spPr>
          <a:xfrm>
            <a:off x="3703320" y="5001768"/>
            <a:ext cx="2194560" cy="365760"/>
          </a:xfrm>
          <a:prstGeom prst="rect">
            <a:avLst/>
          </a:prstGeom>
          <a:noFill/>
        </p:spPr>
        <p:txBody>
          <a:bodyPr wrap="square">
            <a:spAutoFit/>
          </a:bodyPr>
          <a:lstStyle/>
          <a:p>
            <a:pPr algn="l"/>
            <a:r>
              <a:rPr sz="1200" b="1">
                <a:solidFill>
                  <a:srgbClr val="FFFFFF"/>
                </a:solidFill>
                <a:latin typeface="Aptos"/>
              </a:rPr>
              <a:t>HOW risky are they?</a:t>
            </a:r>
          </a:p>
        </p:txBody>
      </p:sp>
      <p:sp>
        <p:nvSpPr>
          <p:cNvPr id="12" name="Rounded Rectangle 11"/>
          <p:cNvSpPr/>
          <p:nvPr/>
        </p:nvSpPr>
        <p:spPr>
          <a:xfrm>
            <a:off x="6391656" y="4572000"/>
            <a:ext cx="2578608" cy="914400"/>
          </a:xfrm>
          <a:prstGeom prst="roundRect">
            <a:avLst/>
          </a:prstGeom>
          <a:solidFill>
            <a:srgbClr val="142848"/>
          </a:solidFill>
          <a:ln>
            <a:solidFill>
              <a:srgbClr val="374F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56248" y="4718304"/>
            <a:ext cx="411480" cy="228600"/>
          </a:xfrm>
          <a:prstGeom prst="rect">
            <a:avLst/>
          </a:prstGeom>
          <a:noFill/>
        </p:spPr>
        <p:txBody>
          <a:bodyPr wrap="square">
            <a:spAutoFit/>
          </a:bodyPr>
          <a:lstStyle/>
          <a:p>
            <a:pPr algn="l"/>
            <a:r>
              <a:rPr sz="1000" b="1">
                <a:solidFill>
                  <a:srgbClr val="36B8E0"/>
                </a:solidFill>
                <a:latin typeface="Aptos"/>
              </a:rPr>
              <a:t>03</a:t>
            </a:r>
          </a:p>
        </p:txBody>
      </p:sp>
      <p:sp>
        <p:nvSpPr>
          <p:cNvPr id="14" name="TextBox 13"/>
          <p:cNvSpPr txBox="1"/>
          <p:nvPr/>
        </p:nvSpPr>
        <p:spPr>
          <a:xfrm>
            <a:off x="6556248" y="5001768"/>
            <a:ext cx="2194560" cy="365760"/>
          </a:xfrm>
          <a:prstGeom prst="rect">
            <a:avLst/>
          </a:prstGeom>
          <a:noFill/>
        </p:spPr>
        <p:txBody>
          <a:bodyPr wrap="square">
            <a:spAutoFit/>
          </a:bodyPr>
          <a:lstStyle/>
          <a:p>
            <a:pPr algn="l"/>
            <a:r>
              <a:rPr sz="1200" b="1">
                <a:solidFill>
                  <a:srgbClr val="FFFFFF"/>
                </a:solidFill>
                <a:latin typeface="Aptos"/>
              </a:rPr>
              <a:t>HOW are we responding?</a:t>
            </a:r>
          </a:p>
        </p:txBody>
      </p:sp>
      <p:sp>
        <p:nvSpPr>
          <p:cNvPr id="15" name="Rounded Rectangle 14"/>
          <p:cNvSpPr/>
          <p:nvPr/>
        </p:nvSpPr>
        <p:spPr>
          <a:xfrm>
            <a:off x="9244584" y="4572000"/>
            <a:ext cx="2578608" cy="914400"/>
          </a:xfrm>
          <a:prstGeom prst="roundRect">
            <a:avLst/>
          </a:prstGeom>
          <a:solidFill>
            <a:srgbClr val="142848"/>
          </a:solidFill>
          <a:ln>
            <a:solidFill>
              <a:srgbClr val="374F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09176" y="4718304"/>
            <a:ext cx="411480" cy="228600"/>
          </a:xfrm>
          <a:prstGeom prst="rect">
            <a:avLst/>
          </a:prstGeom>
          <a:noFill/>
        </p:spPr>
        <p:txBody>
          <a:bodyPr wrap="square">
            <a:spAutoFit/>
          </a:bodyPr>
          <a:lstStyle/>
          <a:p>
            <a:pPr algn="l"/>
            <a:r>
              <a:rPr sz="1000" b="1">
                <a:solidFill>
                  <a:srgbClr val="36B8E0"/>
                </a:solidFill>
                <a:latin typeface="Aptos"/>
              </a:rPr>
              <a:t>04</a:t>
            </a:r>
          </a:p>
        </p:txBody>
      </p:sp>
      <p:sp>
        <p:nvSpPr>
          <p:cNvPr id="17" name="TextBox 16"/>
          <p:cNvSpPr txBox="1"/>
          <p:nvPr/>
        </p:nvSpPr>
        <p:spPr>
          <a:xfrm>
            <a:off x="9409176" y="5001768"/>
            <a:ext cx="2194560" cy="365760"/>
          </a:xfrm>
          <a:prstGeom prst="rect">
            <a:avLst/>
          </a:prstGeom>
          <a:noFill/>
        </p:spPr>
        <p:txBody>
          <a:bodyPr wrap="square">
            <a:spAutoFit/>
          </a:bodyPr>
          <a:lstStyle/>
          <a:p>
            <a:pPr algn="l"/>
            <a:r>
              <a:rPr sz="1200" b="1">
                <a:solidFill>
                  <a:srgbClr val="FFFFFF"/>
                </a:solidFill>
                <a:latin typeface="Aptos"/>
              </a:rPr>
              <a:t>ARE resources deployed efficiently?</a:t>
            </a:r>
          </a:p>
        </p:txBody>
      </p:sp>
      <p:sp>
        <p:nvSpPr>
          <p:cNvPr id="18" name="TextBox 17"/>
          <p:cNvSpPr txBox="1"/>
          <p:nvPr/>
        </p:nvSpPr>
        <p:spPr>
          <a:xfrm>
            <a:off x="731520" y="6126480"/>
            <a:ext cx="1828800" cy="228600"/>
          </a:xfrm>
          <a:prstGeom prst="rect">
            <a:avLst/>
          </a:prstGeom>
          <a:noFill/>
        </p:spPr>
        <p:txBody>
          <a:bodyPr wrap="square">
            <a:spAutoFit/>
          </a:bodyPr>
          <a:lstStyle/>
          <a:p>
            <a:pPr algn="l"/>
            <a:r>
              <a:rPr sz="1000" b="0">
                <a:solidFill>
                  <a:srgbClr val="B4C6DC"/>
                </a:solidFill>
                <a:latin typeface="Aptos"/>
              </a:rPr>
              <a:t>Milestone 3</a:t>
            </a:r>
          </a:p>
        </p:txBody>
      </p:sp>
      <p:sp>
        <p:nvSpPr>
          <p:cNvPr id="19" name="TextBox 18">
            <a:extLst>
              <a:ext uri="{FF2B5EF4-FFF2-40B4-BE49-F238E27FC236}">
                <a16:creationId xmlns:a16="http://schemas.microsoft.com/office/drawing/2014/main" id="{5FE7F94F-815D-4308-98C5-E5B1C31D01DD}"/>
              </a:ext>
            </a:extLst>
          </p:cNvPr>
          <p:cNvSpPr txBox="1"/>
          <p:nvPr/>
        </p:nvSpPr>
        <p:spPr>
          <a:xfrm>
            <a:off x="687324" y="558439"/>
            <a:ext cx="10396728" cy="523220"/>
          </a:xfrm>
          <a:prstGeom prst="rect">
            <a:avLst/>
          </a:prstGeom>
          <a:noFill/>
        </p:spPr>
        <p:txBody>
          <a:bodyPr wrap="square" rtlCol="0">
            <a:spAutoFit/>
          </a:bodyPr>
          <a:lstStyle/>
          <a:p>
            <a:r>
              <a:rPr lang="en-US" sz="2800" b="1" i="0" dirty="0">
                <a:solidFill>
                  <a:schemeClr val="accent5"/>
                </a:solidFill>
                <a:effectLst/>
                <a:latin typeface="Google Sans"/>
              </a:rPr>
              <a:t>Cyber Threat Analytics platform with incident Visualization System</a:t>
            </a:r>
          </a:p>
        </p:txBody>
      </p:sp>
      <p:sp>
        <p:nvSpPr>
          <p:cNvPr id="20" name="TextBox 19">
            <a:extLst>
              <a:ext uri="{FF2B5EF4-FFF2-40B4-BE49-F238E27FC236}">
                <a16:creationId xmlns:a16="http://schemas.microsoft.com/office/drawing/2014/main" id="{497C0CB0-06AC-4902-A0A1-9F5426F1E075}"/>
              </a:ext>
            </a:extLst>
          </p:cNvPr>
          <p:cNvSpPr txBox="1"/>
          <p:nvPr/>
        </p:nvSpPr>
        <p:spPr>
          <a:xfrm>
            <a:off x="627888" y="3638550"/>
            <a:ext cx="9531858" cy="923330"/>
          </a:xfrm>
          <a:prstGeom prst="rect">
            <a:avLst/>
          </a:prstGeom>
          <a:noFill/>
        </p:spPr>
        <p:txBody>
          <a:bodyPr wrap="square" rtlCol="0">
            <a:spAutoFit/>
          </a:bodyPr>
          <a:lstStyle/>
          <a:p>
            <a:r>
              <a:rPr lang="en-US" sz="1800" b="1" dirty="0">
                <a:solidFill>
                  <a:schemeClr val="accent5"/>
                </a:solidFill>
                <a:latin typeface="Segoe UI" panose="020B0502040204020203" pitchFamily="34" charset="0"/>
                <a:cs typeface="Segoe UI" panose="020B0502040204020203" pitchFamily="34" charset="0"/>
              </a:rPr>
              <a:t>Presented By : Team C (Neeraj Sharma)</a:t>
            </a:r>
          </a:p>
          <a:p>
            <a:r>
              <a:rPr lang="en-US" sz="1800" b="1" dirty="0">
                <a:solidFill>
                  <a:schemeClr val="accent5"/>
                </a:solidFill>
                <a:latin typeface="Segoe UI" panose="020B0502040204020203" pitchFamily="34" charset="0"/>
                <a:cs typeface="Segoe UI" panose="020B0502040204020203" pitchFamily="34" charset="0"/>
              </a:rPr>
              <a:t>Under the supervision of our mentor : Mr. Sughandar</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25"/>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1. Milestone 3 Objective</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Moving from descriptive threat analytics to operational decision support</a:t>
            </a:r>
          </a:p>
        </p:txBody>
      </p:sp>
      <p:sp>
        <p:nvSpPr>
          <p:cNvPr id="5" name="Rounded Rectangle 4"/>
          <p:cNvSpPr/>
          <p:nvPr/>
        </p:nvSpPr>
        <p:spPr>
          <a:xfrm>
            <a:off x="640080" y="1325880"/>
            <a:ext cx="2606040" cy="15087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325880"/>
            <a:ext cx="64008" cy="15087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453895"/>
            <a:ext cx="2240280" cy="274320"/>
          </a:xfrm>
          <a:prstGeom prst="rect">
            <a:avLst/>
          </a:prstGeom>
          <a:noFill/>
        </p:spPr>
        <p:txBody>
          <a:bodyPr wrap="square">
            <a:spAutoFit/>
          </a:bodyPr>
          <a:lstStyle/>
          <a:p>
            <a:pPr algn="l"/>
            <a:r>
              <a:rPr sz="1000" b="1">
                <a:solidFill>
                  <a:srgbClr val="67717D"/>
                </a:solidFill>
                <a:latin typeface="Aptos"/>
              </a:rPr>
              <a:t>WHERE</a:t>
            </a:r>
          </a:p>
        </p:txBody>
      </p:sp>
      <p:sp>
        <p:nvSpPr>
          <p:cNvPr id="8" name="TextBox 7"/>
          <p:cNvSpPr txBox="1"/>
          <p:nvPr/>
        </p:nvSpPr>
        <p:spPr>
          <a:xfrm>
            <a:off x="841247" y="1764792"/>
            <a:ext cx="2240280" cy="384048"/>
          </a:xfrm>
          <a:prstGeom prst="rect">
            <a:avLst/>
          </a:prstGeom>
          <a:noFill/>
        </p:spPr>
        <p:txBody>
          <a:bodyPr wrap="square">
            <a:spAutoFit/>
          </a:bodyPr>
          <a:lstStyle/>
          <a:p>
            <a:pPr algn="l"/>
            <a:r>
              <a:rPr sz="2300" b="1">
                <a:solidFill>
                  <a:srgbClr val="0A1830"/>
                </a:solidFill>
                <a:latin typeface="Aptos"/>
              </a:rPr>
              <a:t>Threat hotspots</a:t>
            </a:r>
          </a:p>
        </p:txBody>
      </p:sp>
      <p:sp>
        <p:nvSpPr>
          <p:cNvPr id="9" name="TextBox 8"/>
          <p:cNvSpPr txBox="1"/>
          <p:nvPr/>
        </p:nvSpPr>
        <p:spPr>
          <a:xfrm>
            <a:off x="841247" y="2240280"/>
            <a:ext cx="2240280" cy="502919"/>
          </a:xfrm>
          <a:prstGeom prst="rect">
            <a:avLst/>
          </a:prstGeom>
          <a:noFill/>
        </p:spPr>
        <p:txBody>
          <a:bodyPr wrap="square">
            <a:spAutoFit/>
          </a:bodyPr>
          <a:lstStyle/>
          <a:p>
            <a:pPr algn="l"/>
            <a:r>
              <a:rPr sz="1100" b="0">
                <a:solidFill>
                  <a:srgbClr val="232B36"/>
                </a:solidFill>
                <a:latin typeface="Aptos"/>
              </a:rPr>
              <a:t>Identify locations/zones with concentrated incident activity.</a:t>
            </a:r>
          </a:p>
        </p:txBody>
      </p:sp>
      <p:sp>
        <p:nvSpPr>
          <p:cNvPr id="10" name="Rounded Rectangle 9"/>
          <p:cNvSpPr/>
          <p:nvPr/>
        </p:nvSpPr>
        <p:spPr>
          <a:xfrm>
            <a:off x="3429000" y="1325880"/>
            <a:ext cx="2606040" cy="15087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325880"/>
            <a:ext cx="64008" cy="1508760"/>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30168" y="1453895"/>
            <a:ext cx="2240280" cy="274320"/>
          </a:xfrm>
          <a:prstGeom prst="rect">
            <a:avLst/>
          </a:prstGeom>
          <a:noFill/>
        </p:spPr>
        <p:txBody>
          <a:bodyPr wrap="square">
            <a:spAutoFit/>
          </a:bodyPr>
          <a:lstStyle/>
          <a:p>
            <a:pPr algn="l"/>
            <a:r>
              <a:rPr sz="1000" b="1">
                <a:solidFill>
                  <a:srgbClr val="67717D"/>
                </a:solidFill>
                <a:latin typeface="Aptos"/>
              </a:rPr>
              <a:t>HOW RISKY</a:t>
            </a:r>
          </a:p>
        </p:txBody>
      </p:sp>
      <p:sp>
        <p:nvSpPr>
          <p:cNvPr id="13" name="TextBox 12"/>
          <p:cNvSpPr txBox="1"/>
          <p:nvPr/>
        </p:nvSpPr>
        <p:spPr>
          <a:xfrm>
            <a:off x="3630168" y="1764792"/>
            <a:ext cx="2240280" cy="384048"/>
          </a:xfrm>
          <a:prstGeom prst="rect">
            <a:avLst/>
          </a:prstGeom>
          <a:noFill/>
        </p:spPr>
        <p:txBody>
          <a:bodyPr wrap="square">
            <a:spAutoFit/>
          </a:bodyPr>
          <a:lstStyle/>
          <a:p>
            <a:pPr algn="l"/>
            <a:r>
              <a:rPr sz="2300" b="1">
                <a:solidFill>
                  <a:srgbClr val="0A1830"/>
                </a:solidFill>
                <a:latin typeface="Aptos"/>
              </a:rPr>
              <a:t>Risk surface</a:t>
            </a:r>
          </a:p>
        </p:txBody>
      </p:sp>
      <p:sp>
        <p:nvSpPr>
          <p:cNvPr id="14" name="TextBox 13"/>
          <p:cNvSpPr txBox="1"/>
          <p:nvPr/>
        </p:nvSpPr>
        <p:spPr>
          <a:xfrm>
            <a:off x="3630168" y="2240280"/>
            <a:ext cx="2240280" cy="502919"/>
          </a:xfrm>
          <a:prstGeom prst="rect">
            <a:avLst/>
          </a:prstGeom>
          <a:noFill/>
        </p:spPr>
        <p:txBody>
          <a:bodyPr wrap="square">
            <a:spAutoFit/>
          </a:bodyPr>
          <a:lstStyle/>
          <a:p>
            <a:pPr algn="l"/>
            <a:r>
              <a:rPr sz="1100" b="0">
                <a:solidFill>
                  <a:srgbClr val="232B36"/>
                </a:solidFill>
                <a:latin typeface="Aptos"/>
              </a:rPr>
              <a:t>Use risk tier, zone context and incident concentration.</a:t>
            </a:r>
          </a:p>
        </p:txBody>
      </p:sp>
      <p:sp>
        <p:nvSpPr>
          <p:cNvPr id="15" name="Rounded Rectangle 14"/>
          <p:cNvSpPr/>
          <p:nvPr/>
        </p:nvSpPr>
        <p:spPr>
          <a:xfrm>
            <a:off x="6217920" y="1325880"/>
            <a:ext cx="2606040" cy="15087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325880"/>
            <a:ext cx="64008" cy="1508760"/>
          </a:xfrm>
          <a:prstGeom prst="rect">
            <a:avLst/>
          </a:prstGeom>
          <a:solidFill>
            <a:srgbClr val="EE7E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1453895"/>
            <a:ext cx="2240280" cy="274320"/>
          </a:xfrm>
          <a:prstGeom prst="rect">
            <a:avLst/>
          </a:prstGeom>
          <a:noFill/>
        </p:spPr>
        <p:txBody>
          <a:bodyPr wrap="square">
            <a:spAutoFit/>
          </a:bodyPr>
          <a:lstStyle/>
          <a:p>
            <a:pPr algn="l"/>
            <a:r>
              <a:rPr sz="1000" b="1">
                <a:solidFill>
                  <a:srgbClr val="67717D"/>
                </a:solidFill>
                <a:latin typeface="Aptos"/>
              </a:rPr>
              <a:t>HOW WE RESPOND</a:t>
            </a:r>
          </a:p>
        </p:txBody>
      </p:sp>
      <p:sp>
        <p:nvSpPr>
          <p:cNvPr id="18" name="TextBox 17"/>
          <p:cNvSpPr txBox="1"/>
          <p:nvPr/>
        </p:nvSpPr>
        <p:spPr>
          <a:xfrm>
            <a:off x="6400800" y="1627631"/>
            <a:ext cx="2240280" cy="384048"/>
          </a:xfrm>
          <a:prstGeom prst="rect">
            <a:avLst/>
          </a:prstGeom>
          <a:noFill/>
        </p:spPr>
        <p:txBody>
          <a:bodyPr wrap="square">
            <a:spAutoFit/>
          </a:bodyPr>
          <a:lstStyle/>
          <a:p>
            <a:pPr algn="l"/>
            <a:r>
              <a:rPr sz="2300" b="1" dirty="0">
                <a:solidFill>
                  <a:srgbClr val="0A1830"/>
                </a:solidFill>
                <a:latin typeface="Aptos"/>
              </a:rPr>
              <a:t>Response performance</a:t>
            </a:r>
          </a:p>
        </p:txBody>
      </p:sp>
      <p:sp>
        <p:nvSpPr>
          <p:cNvPr id="19" name="TextBox 18"/>
          <p:cNvSpPr txBox="1"/>
          <p:nvPr/>
        </p:nvSpPr>
        <p:spPr>
          <a:xfrm>
            <a:off x="6458714" y="2423541"/>
            <a:ext cx="2240280" cy="502919"/>
          </a:xfrm>
          <a:prstGeom prst="rect">
            <a:avLst/>
          </a:prstGeom>
          <a:noFill/>
        </p:spPr>
        <p:txBody>
          <a:bodyPr wrap="square">
            <a:spAutoFit/>
          </a:bodyPr>
          <a:lstStyle/>
          <a:p>
            <a:pPr algn="l"/>
            <a:r>
              <a:rPr sz="1100" b="0" dirty="0">
                <a:solidFill>
                  <a:srgbClr val="232B36"/>
                </a:solidFill>
                <a:latin typeface="Aptos"/>
              </a:rPr>
              <a:t>Track response time, SLA and escalation behavior.</a:t>
            </a:r>
          </a:p>
        </p:txBody>
      </p:sp>
      <p:sp>
        <p:nvSpPr>
          <p:cNvPr id="20" name="Rounded Rectangle 19"/>
          <p:cNvSpPr/>
          <p:nvPr/>
        </p:nvSpPr>
        <p:spPr>
          <a:xfrm>
            <a:off x="9006840" y="1325880"/>
            <a:ext cx="2606040" cy="15087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006840" y="1325880"/>
            <a:ext cx="64008" cy="1508760"/>
          </a:xfrm>
          <a:prstGeom prst="rect">
            <a:avLst/>
          </a:prstGeom>
          <a:solidFill>
            <a:srgbClr val="23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08008" y="1453895"/>
            <a:ext cx="2240280" cy="274320"/>
          </a:xfrm>
          <a:prstGeom prst="rect">
            <a:avLst/>
          </a:prstGeom>
          <a:noFill/>
        </p:spPr>
        <p:txBody>
          <a:bodyPr wrap="square">
            <a:spAutoFit/>
          </a:bodyPr>
          <a:lstStyle/>
          <a:p>
            <a:pPr algn="l"/>
            <a:r>
              <a:rPr sz="1000" b="1">
                <a:solidFill>
                  <a:srgbClr val="67717D"/>
                </a:solidFill>
                <a:latin typeface="Aptos"/>
              </a:rPr>
              <a:t>ARE RESOURCES EFFICIENT?</a:t>
            </a:r>
          </a:p>
        </p:txBody>
      </p:sp>
      <p:sp>
        <p:nvSpPr>
          <p:cNvPr id="23" name="TextBox 22"/>
          <p:cNvSpPr txBox="1"/>
          <p:nvPr/>
        </p:nvSpPr>
        <p:spPr>
          <a:xfrm>
            <a:off x="9189720" y="1585720"/>
            <a:ext cx="2240280" cy="384048"/>
          </a:xfrm>
          <a:prstGeom prst="rect">
            <a:avLst/>
          </a:prstGeom>
          <a:noFill/>
        </p:spPr>
        <p:txBody>
          <a:bodyPr wrap="square">
            <a:spAutoFit/>
          </a:bodyPr>
          <a:lstStyle/>
          <a:p>
            <a:pPr algn="l"/>
            <a:r>
              <a:rPr sz="2300" b="1" dirty="0">
                <a:solidFill>
                  <a:srgbClr val="0A1830"/>
                </a:solidFill>
                <a:latin typeface="Aptos"/>
              </a:rPr>
              <a:t>Resource deployment</a:t>
            </a:r>
          </a:p>
        </p:txBody>
      </p:sp>
      <p:sp>
        <p:nvSpPr>
          <p:cNvPr id="24" name="TextBox 23"/>
          <p:cNvSpPr txBox="1"/>
          <p:nvPr/>
        </p:nvSpPr>
        <p:spPr>
          <a:xfrm>
            <a:off x="9221800" y="2409445"/>
            <a:ext cx="2240280" cy="502919"/>
          </a:xfrm>
          <a:prstGeom prst="rect">
            <a:avLst/>
          </a:prstGeom>
          <a:noFill/>
        </p:spPr>
        <p:txBody>
          <a:bodyPr wrap="square">
            <a:spAutoFit/>
          </a:bodyPr>
          <a:lstStyle/>
          <a:p>
            <a:pPr algn="l"/>
            <a:r>
              <a:rPr sz="1100" b="0" dirty="0">
                <a:solidFill>
                  <a:srgbClr val="232B36"/>
                </a:solidFill>
                <a:latin typeface="Aptos"/>
              </a:rPr>
              <a:t>Compare risk, workload and deployed units.</a:t>
            </a:r>
          </a:p>
        </p:txBody>
      </p:sp>
      <p:sp>
        <p:nvSpPr>
          <p:cNvPr id="25" name="TextBox 24"/>
          <p:cNvSpPr txBox="1"/>
          <p:nvPr/>
        </p:nvSpPr>
        <p:spPr>
          <a:xfrm>
            <a:off x="685800" y="3337560"/>
            <a:ext cx="1828800" cy="274320"/>
          </a:xfrm>
          <a:prstGeom prst="rect">
            <a:avLst/>
          </a:prstGeom>
          <a:noFill/>
        </p:spPr>
        <p:txBody>
          <a:bodyPr wrap="square">
            <a:spAutoFit/>
          </a:bodyPr>
          <a:lstStyle/>
          <a:p>
            <a:pPr algn="l"/>
            <a:r>
              <a:rPr sz="1300" b="1">
                <a:solidFill>
                  <a:srgbClr val="67717D"/>
                </a:solidFill>
                <a:latin typeface="Aptos"/>
              </a:rPr>
              <a:t>Decision chain</a:t>
            </a:r>
          </a:p>
        </p:txBody>
      </p:sp>
      <p:sp>
        <p:nvSpPr>
          <p:cNvPr id="26" name="TextBox 25"/>
          <p:cNvSpPr txBox="1"/>
          <p:nvPr/>
        </p:nvSpPr>
        <p:spPr>
          <a:xfrm>
            <a:off x="685800" y="3703320"/>
            <a:ext cx="10881360" cy="594360"/>
          </a:xfrm>
          <a:prstGeom prst="rect">
            <a:avLst/>
          </a:prstGeom>
          <a:noFill/>
        </p:spPr>
        <p:txBody>
          <a:bodyPr wrap="square">
            <a:spAutoFit/>
          </a:bodyPr>
          <a:lstStyle/>
          <a:p>
            <a:pPr algn="ctr"/>
            <a:r>
              <a:rPr sz="2400" b="1">
                <a:solidFill>
                  <a:srgbClr val="0A1830"/>
                </a:solidFill>
                <a:latin typeface="Aptos"/>
              </a:rPr>
              <a:t>Incidents  →  Location  →  Risk  →  Response  →  Resources  →  Action</a:t>
            </a:r>
          </a:p>
        </p:txBody>
      </p:sp>
      <p:sp>
        <p:nvSpPr>
          <p:cNvPr id="27" name="TextBox 26"/>
          <p:cNvSpPr txBox="1"/>
          <p:nvPr/>
        </p:nvSpPr>
        <p:spPr>
          <a:xfrm>
            <a:off x="1188720" y="4800600"/>
            <a:ext cx="9875520" cy="548640"/>
          </a:xfrm>
          <a:prstGeom prst="rect">
            <a:avLst/>
          </a:prstGeom>
          <a:noFill/>
        </p:spPr>
        <p:txBody>
          <a:bodyPr wrap="square">
            <a:spAutoFit/>
          </a:bodyPr>
          <a:lstStyle/>
          <a:p>
            <a:pPr algn="ctr"/>
            <a:r>
              <a:rPr sz="1700" b="0">
                <a:solidFill>
                  <a:srgbClr val="232B36"/>
                </a:solidFill>
                <a:latin typeface="Aptos"/>
              </a:rPr>
              <a:t>The dashboard should help a security manager move from “what happened?” to “what should we do next?”</a:t>
            </a:r>
          </a:p>
        </p:txBody>
      </p:sp>
      <p:sp>
        <p:nvSpPr>
          <p:cNvPr id="28" name="TextBox 27"/>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29" name="TextBox 28"/>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2. Current Dashboard — Milestone 3 Evidence</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The current dashboard directly supports the four operational questions</a:t>
            </a:r>
          </a:p>
        </p:txBody>
      </p:sp>
      <p:pic>
        <p:nvPicPr>
          <p:cNvPr id="5" name="Picture 4" descr="Screenshot 2026-08-19 194149(1).png"/>
          <p:cNvPicPr>
            <a:picLocks noChangeAspect="1"/>
          </p:cNvPicPr>
          <p:nvPr/>
        </p:nvPicPr>
        <p:blipFill>
          <a:blip r:embed="rId2"/>
          <a:stretch>
            <a:fillRect/>
          </a:stretch>
        </p:blipFill>
        <p:spPr>
          <a:xfrm>
            <a:off x="594360" y="1234440"/>
            <a:ext cx="10972800" cy="5074920"/>
          </a:xfrm>
          <a:prstGeom prst="rect">
            <a:avLst/>
          </a:prstGeom>
        </p:spPr>
      </p:pic>
      <p:sp>
        <p:nvSpPr>
          <p:cNvPr id="6" name="TextBox 5"/>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7" name="TextBox 6"/>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25"/>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3. WHERE are the threats?</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Geospatial threat hotspot analysis</a:t>
            </a:r>
          </a:p>
        </p:txBody>
      </p:sp>
      <p:sp>
        <p:nvSpPr>
          <p:cNvPr id="5" name="Rounded Rectangle 4"/>
          <p:cNvSpPr/>
          <p:nvPr/>
        </p:nvSpPr>
        <p:spPr>
          <a:xfrm>
            <a:off x="640080" y="1234440"/>
            <a:ext cx="3337560" cy="11430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64008" cy="1143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362456"/>
            <a:ext cx="2971800" cy="274320"/>
          </a:xfrm>
          <a:prstGeom prst="rect">
            <a:avLst/>
          </a:prstGeom>
          <a:noFill/>
        </p:spPr>
        <p:txBody>
          <a:bodyPr wrap="square">
            <a:spAutoFit/>
          </a:bodyPr>
          <a:lstStyle/>
          <a:p>
            <a:pPr algn="l"/>
            <a:r>
              <a:rPr sz="1000" b="1">
                <a:solidFill>
                  <a:srgbClr val="67717D"/>
                </a:solidFill>
                <a:latin typeface="Aptos"/>
              </a:rPr>
              <a:t>GEOSPATIAL VIEW</a:t>
            </a:r>
          </a:p>
        </p:txBody>
      </p:sp>
      <p:sp>
        <p:nvSpPr>
          <p:cNvPr id="8" name="TextBox 7"/>
          <p:cNvSpPr txBox="1"/>
          <p:nvPr/>
        </p:nvSpPr>
        <p:spPr>
          <a:xfrm>
            <a:off x="822960" y="1531620"/>
            <a:ext cx="2971800" cy="384048"/>
          </a:xfrm>
          <a:prstGeom prst="rect">
            <a:avLst/>
          </a:prstGeom>
          <a:noFill/>
        </p:spPr>
        <p:txBody>
          <a:bodyPr wrap="square">
            <a:spAutoFit/>
          </a:bodyPr>
          <a:lstStyle/>
          <a:p>
            <a:pPr algn="l"/>
            <a:r>
              <a:rPr sz="2300" b="1" dirty="0">
                <a:solidFill>
                  <a:srgbClr val="0A1830"/>
                </a:solidFill>
                <a:latin typeface="Aptos"/>
              </a:rPr>
              <a:t>Location-level map</a:t>
            </a:r>
          </a:p>
        </p:txBody>
      </p:sp>
      <p:sp>
        <p:nvSpPr>
          <p:cNvPr id="9" name="TextBox 8"/>
          <p:cNvSpPr txBox="1"/>
          <p:nvPr/>
        </p:nvSpPr>
        <p:spPr>
          <a:xfrm>
            <a:off x="822960" y="1997965"/>
            <a:ext cx="2971800" cy="137159"/>
          </a:xfrm>
          <a:prstGeom prst="rect">
            <a:avLst/>
          </a:prstGeom>
          <a:noFill/>
        </p:spPr>
        <p:txBody>
          <a:bodyPr wrap="square">
            <a:spAutoFit/>
          </a:bodyPr>
          <a:lstStyle/>
          <a:p>
            <a:pPr algn="l"/>
            <a:r>
              <a:rPr sz="1100" b="0" dirty="0">
                <a:solidFill>
                  <a:srgbClr val="232B36"/>
                </a:solidFill>
                <a:latin typeface="Aptos"/>
              </a:rPr>
              <a:t>Identify geographical concentration of incidents.</a:t>
            </a:r>
          </a:p>
        </p:txBody>
      </p:sp>
      <p:sp>
        <p:nvSpPr>
          <p:cNvPr id="10" name="Rounded Rectangle 9"/>
          <p:cNvSpPr/>
          <p:nvPr/>
        </p:nvSpPr>
        <p:spPr>
          <a:xfrm>
            <a:off x="4160520" y="1234440"/>
            <a:ext cx="3337560" cy="11430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60520" y="1234440"/>
            <a:ext cx="64008" cy="1143000"/>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61688" y="1362456"/>
            <a:ext cx="2971800" cy="274320"/>
          </a:xfrm>
          <a:prstGeom prst="rect">
            <a:avLst/>
          </a:prstGeom>
          <a:noFill/>
        </p:spPr>
        <p:txBody>
          <a:bodyPr wrap="square">
            <a:spAutoFit/>
          </a:bodyPr>
          <a:lstStyle/>
          <a:p>
            <a:pPr algn="l"/>
            <a:r>
              <a:rPr sz="1000" b="1">
                <a:solidFill>
                  <a:srgbClr val="67717D"/>
                </a:solidFill>
                <a:latin typeface="Aptos"/>
              </a:rPr>
              <a:t>ZONE VIEW</a:t>
            </a:r>
          </a:p>
        </p:txBody>
      </p:sp>
      <p:sp>
        <p:nvSpPr>
          <p:cNvPr id="13" name="TextBox 12"/>
          <p:cNvSpPr txBox="1"/>
          <p:nvPr/>
        </p:nvSpPr>
        <p:spPr>
          <a:xfrm>
            <a:off x="4343400" y="1572767"/>
            <a:ext cx="2971800" cy="384048"/>
          </a:xfrm>
          <a:prstGeom prst="rect">
            <a:avLst/>
          </a:prstGeom>
          <a:noFill/>
        </p:spPr>
        <p:txBody>
          <a:bodyPr wrap="square">
            <a:spAutoFit/>
          </a:bodyPr>
          <a:lstStyle/>
          <a:p>
            <a:pPr algn="l"/>
            <a:r>
              <a:rPr sz="2300" b="1" dirty="0">
                <a:solidFill>
                  <a:srgbClr val="0A1830"/>
                </a:solidFill>
                <a:latin typeface="Aptos"/>
              </a:rPr>
              <a:t>Incident concentration</a:t>
            </a:r>
          </a:p>
        </p:txBody>
      </p:sp>
      <p:sp>
        <p:nvSpPr>
          <p:cNvPr id="14" name="TextBox 13"/>
          <p:cNvSpPr txBox="1"/>
          <p:nvPr/>
        </p:nvSpPr>
        <p:spPr>
          <a:xfrm>
            <a:off x="4375404" y="1965959"/>
            <a:ext cx="2971800" cy="137159"/>
          </a:xfrm>
          <a:prstGeom prst="rect">
            <a:avLst/>
          </a:prstGeom>
          <a:noFill/>
        </p:spPr>
        <p:txBody>
          <a:bodyPr wrap="square">
            <a:spAutoFit/>
          </a:bodyPr>
          <a:lstStyle/>
          <a:p>
            <a:pPr algn="l"/>
            <a:r>
              <a:rPr sz="1100" b="0" dirty="0">
                <a:solidFill>
                  <a:srgbClr val="232B36"/>
                </a:solidFill>
                <a:latin typeface="Aptos"/>
              </a:rPr>
              <a:t>Compare incident volume across operational zones.</a:t>
            </a:r>
          </a:p>
        </p:txBody>
      </p:sp>
      <p:sp>
        <p:nvSpPr>
          <p:cNvPr id="15" name="Rounded Rectangle 14"/>
          <p:cNvSpPr/>
          <p:nvPr/>
        </p:nvSpPr>
        <p:spPr>
          <a:xfrm>
            <a:off x="7680960" y="1234440"/>
            <a:ext cx="3337560" cy="114300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680960" y="1234440"/>
            <a:ext cx="64008" cy="1143000"/>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82128" y="1362456"/>
            <a:ext cx="2971800" cy="274320"/>
          </a:xfrm>
          <a:prstGeom prst="rect">
            <a:avLst/>
          </a:prstGeom>
          <a:noFill/>
        </p:spPr>
        <p:txBody>
          <a:bodyPr wrap="square">
            <a:spAutoFit/>
          </a:bodyPr>
          <a:lstStyle/>
          <a:p>
            <a:pPr algn="l"/>
            <a:r>
              <a:rPr sz="1000" b="1">
                <a:solidFill>
                  <a:srgbClr val="67717D"/>
                </a:solidFill>
                <a:latin typeface="Aptos"/>
              </a:rPr>
              <a:t>HOTSPOT LOGIC</a:t>
            </a:r>
          </a:p>
        </p:txBody>
      </p:sp>
      <p:sp>
        <p:nvSpPr>
          <p:cNvPr id="18" name="TextBox 17"/>
          <p:cNvSpPr txBox="1"/>
          <p:nvPr/>
        </p:nvSpPr>
        <p:spPr>
          <a:xfrm>
            <a:off x="7882128" y="1554480"/>
            <a:ext cx="2971800" cy="384048"/>
          </a:xfrm>
          <a:prstGeom prst="rect">
            <a:avLst/>
          </a:prstGeom>
          <a:noFill/>
        </p:spPr>
        <p:txBody>
          <a:bodyPr wrap="square">
            <a:spAutoFit/>
          </a:bodyPr>
          <a:lstStyle/>
          <a:p>
            <a:pPr algn="l"/>
            <a:r>
              <a:rPr sz="2300" b="1" dirty="0">
                <a:solidFill>
                  <a:srgbClr val="0A1830"/>
                </a:solidFill>
                <a:latin typeface="Aptos"/>
              </a:rPr>
              <a:t>Risk + place</a:t>
            </a:r>
          </a:p>
        </p:txBody>
      </p:sp>
      <p:sp>
        <p:nvSpPr>
          <p:cNvPr id="19" name="TextBox 18"/>
          <p:cNvSpPr txBox="1"/>
          <p:nvPr/>
        </p:nvSpPr>
        <p:spPr>
          <a:xfrm>
            <a:off x="7863840" y="1947674"/>
            <a:ext cx="2971800" cy="137159"/>
          </a:xfrm>
          <a:prstGeom prst="rect">
            <a:avLst/>
          </a:prstGeom>
          <a:noFill/>
        </p:spPr>
        <p:txBody>
          <a:bodyPr wrap="square">
            <a:spAutoFit/>
          </a:bodyPr>
          <a:lstStyle/>
          <a:p>
            <a:pPr algn="l"/>
            <a:r>
              <a:rPr sz="1100" b="0" dirty="0">
                <a:solidFill>
                  <a:srgbClr val="232B36"/>
                </a:solidFill>
                <a:latin typeface="Aptos"/>
              </a:rPr>
              <a:t>High concentration plus high risk = priority hotspot.</a:t>
            </a:r>
          </a:p>
        </p:txBody>
      </p:sp>
      <p:sp>
        <p:nvSpPr>
          <p:cNvPr id="20" name="TextBox 19"/>
          <p:cNvSpPr txBox="1"/>
          <p:nvPr/>
        </p:nvSpPr>
        <p:spPr>
          <a:xfrm>
            <a:off x="685800" y="2743200"/>
            <a:ext cx="3840480" cy="274320"/>
          </a:xfrm>
          <a:prstGeom prst="rect">
            <a:avLst/>
          </a:prstGeom>
          <a:noFill/>
        </p:spPr>
        <p:txBody>
          <a:bodyPr wrap="square">
            <a:spAutoFit/>
          </a:bodyPr>
          <a:lstStyle/>
          <a:p>
            <a:pPr algn="l"/>
            <a:r>
              <a:rPr sz="1400" b="1">
                <a:solidFill>
                  <a:srgbClr val="0A1830"/>
                </a:solidFill>
                <a:latin typeface="Aptos"/>
              </a:rPr>
              <a:t>Displayed zone incident counts</a:t>
            </a:r>
          </a:p>
        </p:txBody>
      </p:sp>
      <p:sp>
        <p:nvSpPr>
          <p:cNvPr id="21" name="Rounded Rectangle 20"/>
          <p:cNvSpPr/>
          <p:nvPr/>
        </p:nvSpPr>
        <p:spPr>
          <a:xfrm>
            <a:off x="685800" y="3127248"/>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85800" y="3127248"/>
            <a:ext cx="64008" cy="3931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3255264"/>
            <a:ext cx="1874520" cy="274320"/>
          </a:xfrm>
          <a:prstGeom prst="rect">
            <a:avLst/>
          </a:prstGeom>
          <a:noFill/>
        </p:spPr>
        <p:txBody>
          <a:bodyPr wrap="square">
            <a:spAutoFit/>
          </a:bodyPr>
          <a:lstStyle/>
          <a:p>
            <a:pPr algn="l"/>
            <a:r>
              <a:rPr sz="1000" b="1">
                <a:solidFill>
                  <a:srgbClr val="67717D"/>
                </a:solidFill>
                <a:latin typeface="Aptos"/>
              </a:rPr>
              <a:t>Zone H</a:t>
            </a:r>
          </a:p>
        </p:txBody>
      </p:sp>
      <p:sp>
        <p:nvSpPr>
          <p:cNvPr id="24" name="TextBox 23"/>
          <p:cNvSpPr txBox="1"/>
          <p:nvPr/>
        </p:nvSpPr>
        <p:spPr>
          <a:xfrm>
            <a:off x="886968" y="3566160"/>
            <a:ext cx="1874520" cy="384048"/>
          </a:xfrm>
          <a:prstGeom prst="rect">
            <a:avLst/>
          </a:prstGeom>
          <a:noFill/>
        </p:spPr>
        <p:txBody>
          <a:bodyPr wrap="square">
            <a:spAutoFit/>
          </a:bodyPr>
          <a:lstStyle/>
          <a:p>
            <a:pPr algn="l"/>
            <a:r>
              <a:rPr sz="2300" b="1">
                <a:solidFill>
                  <a:srgbClr val="0A1830"/>
                </a:solidFill>
                <a:latin typeface="Aptos"/>
              </a:rPr>
              <a:t>624</a:t>
            </a:r>
          </a:p>
        </p:txBody>
      </p:sp>
      <p:sp>
        <p:nvSpPr>
          <p:cNvPr id="25" name="Rounded Rectangle 24"/>
          <p:cNvSpPr/>
          <p:nvPr/>
        </p:nvSpPr>
        <p:spPr>
          <a:xfrm>
            <a:off x="685800" y="3630168"/>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800" y="3630168"/>
            <a:ext cx="64008" cy="3931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6968" y="3758183"/>
            <a:ext cx="1874520" cy="274320"/>
          </a:xfrm>
          <a:prstGeom prst="rect">
            <a:avLst/>
          </a:prstGeom>
          <a:noFill/>
        </p:spPr>
        <p:txBody>
          <a:bodyPr wrap="square">
            <a:spAutoFit/>
          </a:bodyPr>
          <a:lstStyle/>
          <a:p>
            <a:pPr algn="l"/>
            <a:r>
              <a:rPr sz="1000" b="1">
                <a:solidFill>
                  <a:srgbClr val="67717D"/>
                </a:solidFill>
                <a:latin typeface="Aptos"/>
              </a:rPr>
              <a:t>Zone G</a:t>
            </a:r>
          </a:p>
        </p:txBody>
      </p:sp>
      <p:sp>
        <p:nvSpPr>
          <p:cNvPr id="28" name="TextBox 27"/>
          <p:cNvSpPr txBox="1"/>
          <p:nvPr/>
        </p:nvSpPr>
        <p:spPr>
          <a:xfrm>
            <a:off x="886968" y="4069079"/>
            <a:ext cx="1874520" cy="384048"/>
          </a:xfrm>
          <a:prstGeom prst="rect">
            <a:avLst/>
          </a:prstGeom>
          <a:noFill/>
        </p:spPr>
        <p:txBody>
          <a:bodyPr wrap="square">
            <a:spAutoFit/>
          </a:bodyPr>
          <a:lstStyle/>
          <a:p>
            <a:pPr algn="l"/>
            <a:r>
              <a:rPr sz="2300" b="1">
                <a:solidFill>
                  <a:srgbClr val="0A1830"/>
                </a:solidFill>
                <a:latin typeface="Aptos"/>
              </a:rPr>
              <a:t>607</a:t>
            </a:r>
          </a:p>
        </p:txBody>
      </p:sp>
      <p:sp>
        <p:nvSpPr>
          <p:cNvPr id="29" name="Rounded Rectangle 28"/>
          <p:cNvSpPr/>
          <p:nvPr/>
        </p:nvSpPr>
        <p:spPr>
          <a:xfrm>
            <a:off x="685800" y="4133087"/>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85800" y="4133087"/>
            <a:ext cx="64008" cy="3931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6968" y="4261103"/>
            <a:ext cx="1874520" cy="274320"/>
          </a:xfrm>
          <a:prstGeom prst="rect">
            <a:avLst/>
          </a:prstGeom>
          <a:noFill/>
        </p:spPr>
        <p:txBody>
          <a:bodyPr wrap="square">
            <a:spAutoFit/>
          </a:bodyPr>
          <a:lstStyle/>
          <a:p>
            <a:pPr algn="l"/>
            <a:r>
              <a:rPr sz="1000" b="1">
                <a:solidFill>
                  <a:srgbClr val="67717D"/>
                </a:solidFill>
                <a:latin typeface="Aptos"/>
              </a:rPr>
              <a:t>Zone A</a:t>
            </a:r>
          </a:p>
        </p:txBody>
      </p:sp>
      <p:sp>
        <p:nvSpPr>
          <p:cNvPr id="32" name="TextBox 31"/>
          <p:cNvSpPr txBox="1"/>
          <p:nvPr/>
        </p:nvSpPr>
        <p:spPr>
          <a:xfrm>
            <a:off x="886968" y="4572000"/>
            <a:ext cx="1874520" cy="384048"/>
          </a:xfrm>
          <a:prstGeom prst="rect">
            <a:avLst/>
          </a:prstGeom>
          <a:noFill/>
        </p:spPr>
        <p:txBody>
          <a:bodyPr wrap="square">
            <a:spAutoFit/>
          </a:bodyPr>
          <a:lstStyle/>
          <a:p>
            <a:pPr algn="l"/>
            <a:r>
              <a:rPr sz="2300" b="1">
                <a:solidFill>
                  <a:srgbClr val="0A1830"/>
                </a:solidFill>
                <a:latin typeface="Aptos"/>
              </a:rPr>
              <a:t>607</a:t>
            </a:r>
          </a:p>
        </p:txBody>
      </p:sp>
      <p:sp>
        <p:nvSpPr>
          <p:cNvPr id="33" name="Rounded Rectangle 32"/>
          <p:cNvSpPr/>
          <p:nvPr/>
        </p:nvSpPr>
        <p:spPr>
          <a:xfrm>
            <a:off x="685800" y="4636008"/>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85800" y="4636008"/>
            <a:ext cx="64008" cy="39319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86968" y="4764024"/>
            <a:ext cx="1874520" cy="274320"/>
          </a:xfrm>
          <a:prstGeom prst="rect">
            <a:avLst/>
          </a:prstGeom>
          <a:noFill/>
        </p:spPr>
        <p:txBody>
          <a:bodyPr wrap="square">
            <a:spAutoFit/>
          </a:bodyPr>
          <a:lstStyle/>
          <a:p>
            <a:pPr algn="l"/>
            <a:r>
              <a:rPr sz="1000" b="1">
                <a:solidFill>
                  <a:srgbClr val="67717D"/>
                </a:solidFill>
                <a:latin typeface="Aptos"/>
              </a:rPr>
              <a:t>Zone J</a:t>
            </a:r>
          </a:p>
        </p:txBody>
      </p:sp>
      <p:sp>
        <p:nvSpPr>
          <p:cNvPr id="36" name="TextBox 35"/>
          <p:cNvSpPr txBox="1"/>
          <p:nvPr/>
        </p:nvSpPr>
        <p:spPr>
          <a:xfrm>
            <a:off x="886968" y="5074920"/>
            <a:ext cx="1874520" cy="384048"/>
          </a:xfrm>
          <a:prstGeom prst="rect">
            <a:avLst/>
          </a:prstGeom>
          <a:noFill/>
        </p:spPr>
        <p:txBody>
          <a:bodyPr wrap="square">
            <a:spAutoFit/>
          </a:bodyPr>
          <a:lstStyle/>
          <a:p>
            <a:pPr algn="l"/>
            <a:r>
              <a:rPr sz="2300" b="1">
                <a:solidFill>
                  <a:srgbClr val="0A1830"/>
                </a:solidFill>
                <a:latin typeface="Aptos"/>
              </a:rPr>
              <a:t>607</a:t>
            </a:r>
          </a:p>
        </p:txBody>
      </p:sp>
      <p:sp>
        <p:nvSpPr>
          <p:cNvPr id="37" name="Rounded Rectangle 36"/>
          <p:cNvSpPr/>
          <p:nvPr/>
        </p:nvSpPr>
        <p:spPr>
          <a:xfrm>
            <a:off x="685800" y="5138928"/>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85800" y="5138928"/>
            <a:ext cx="64008" cy="393192"/>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86968" y="5266944"/>
            <a:ext cx="1874520" cy="274320"/>
          </a:xfrm>
          <a:prstGeom prst="rect">
            <a:avLst/>
          </a:prstGeom>
          <a:noFill/>
        </p:spPr>
        <p:txBody>
          <a:bodyPr wrap="square">
            <a:spAutoFit/>
          </a:bodyPr>
          <a:lstStyle/>
          <a:p>
            <a:pPr algn="l"/>
            <a:r>
              <a:rPr sz="1000" b="1">
                <a:solidFill>
                  <a:srgbClr val="67717D"/>
                </a:solidFill>
                <a:latin typeface="Aptos"/>
              </a:rPr>
              <a:t>Zone E</a:t>
            </a:r>
          </a:p>
        </p:txBody>
      </p:sp>
      <p:sp>
        <p:nvSpPr>
          <p:cNvPr id="40" name="TextBox 39"/>
          <p:cNvSpPr txBox="1"/>
          <p:nvPr/>
        </p:nvSpPr>
        <p:spPr>
          <a:xfrm>
            <a:off x="886968" y="5577840"/>
            <a:ext cx="1874520" cy="384048"/>
          </a:xfrm>
          <a:prstGeom prst="rect">
            <a:avLst/>
          </a:prstGeom>
          <a:noFill/>
        </p:spPr>
        <p:txBody>
          <a:bodyPr wrap="square">
            <a:spAutoFit/>
          </a:bodyPr>
          <a:lstStyle/>
          <a:p>
            <a:pPr algn="l"/>
            <a:r>
              <a:rPr sz="2300" b="1">
                <a:solidFill>
                  <a:srgbClr val="0A1830"/>
                </a:solidFill>
                <a:latin typeface="Aptos"/>
              </a:rPr>
              <a:t>604</a:t>
            </a:r>
          </a:p>
        </p:txBody>
      </p:sp>
      <p:sp>
        <p:nvSpPr>
          <p:cNvPr id="41" name="Rounded Rectangle 40"/>
          <p:cNvSpPr/>
          <p:nvPr/>
        </p:nvSpPr>
        <p:spPr>
          <a:xfrm>
            <a:off x="3200400" y="3127248"/>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200400" y="3127248"/>
            <a:ext cx="64008" cy="393192"/>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401568" y="3255264"/>
            <a:ext cx="1874520" cy="274320"/>
          </a:xfrm>
          <a:prstGeom prst="rect">
            <a:avLst/>
          </a:prstGeom>
          <a:noFill/>
        </p:spPr>
        <p:txBody>
          <a:bodyPr wrap="square">
            <a:spAutoFit/>
          </a:bodyPr>
          <a:lstStyle/>
          <a:p>
            <a:pPr algn="l"/>
            <a:r>
              <a:rPr sz="1000" b="1">
                <a:solidFill>
                  <a:srgbClr val="67717D"/>
                </a:solidFill>
                <a:latin typeface="Aptos"/>
              </a:rPr>
              <a:t>Zone D</a:t>
            </a:r>
          </a:p>
        </p:txBody>
      </p:sp>
      <p:sp>
        <p:nvSpPr>
          <p:cNvPr id="44" name="TextBox 43"/>
          <p:cNvSpPr txBox="1"/>
          <p:nvPr/>
        </p:nvSpPr>
        <p:spPr>
          <a:xfrm>
            <a:off x="3401568" y="3566160"/>
            <a:ext cx="1874520" cy="384048"/>
          </a:xfrm>
          <a:prstGeom prst="rect">
            <a:avLst/>
          </a:prstGeom>
          <a:noFill/>
        </p:spPr>
        <p:txBody>
          <a:bodyPr wrap="square">
            <a:spAutoFit/>
          </a:bodyPr>
          <a:lstStyle/>
          <a:p>
            <a:pPr algn="l"/>
            <a:r>
              <a:rPr sz="2300" b="1">
                <a:solidFill>
                  <a:srgbClr val="0A1830"/>
                </a:solidFill>
                <a:latin typeface="Aptos"/>
              </a:rPr>
              <a:t>599</a:t>
            </a:r>
          </a:p>
        </p:txBody>
      </p:sp>
      <p:sp>
        <p:nvSpPr>
          <p:cNvPr id="45" name="Rounded Rectangle 44"/>
          <p:cNvSpPr/>
          <p:nvPr/>
        </p:nvSpPr>
        <p:spPr>
          <a:xfrm>
            <a:off x="3200400" y="3630168"/>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200400" y="3630168"/>
            <a:ext cx="64008" cy="393192"/>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01568" y="3758183"/>
            <a:ext cx="1874520" cy="274320"/>
          </a:xfrm>
          <a:prstGeom prst="rect">
            <a:avLst/>
          </a:prstGeom>
          <a:noFill/>
        </p:spPr>
        <p:txBody>
          <a:bodyPr wrap="square">
            <a:spAutoFit/>
          </a:bodyPr>
          <a:lstStyle/>
          <a:p>
            <a:pPr algn="l"/>
            <a:r>
              <a:rPr sz="1000" b="1">
                <a:solidFill>
                  <a:srgbClr val="67717D"/>
                </a:solidFill>
                <a:latin typeface="Aptos"/>
              </a:rPr>
              <a:t>Zone B</a:t>
            </a:r>
          </a:p>
        </p:txBody>
      </p:sp>
      <p:sp>
        <p:nvSpPr>
          <p:cNvPr id="48" name="TextBox 47"/>
          <p:cNvSpPr txBox="1"/>
          <p:nvPr/>
        </p:nvSpPr>
        <p:spPr>
          <a:xfrm>
            <a:off x="3401568" y="4069079"/>
            <a:ext cx="1874520" cy="384048"/>
          </a:xfrm>
          <a:prstGeom prst="rect">
            <a:avLst/>
          </a:prstGeom>
          <a:noFill/>
        </p:spPr>
        <p:txBody>
          <a:bodyPr wrap="square">
            <a:spAutoFit/>
          </a:bodyPr>
          <a:lstStyle/>
          <a:p>
            <a:pPr algn="l"/>
            <a:r>
              <a:rPr sz="2300" b="1">
                <a:solidFill>
                  <a:srgbClr val="0A1830"/>
                </a:solidFill>
                <a:latin typeface="Aptos"/>
              </a:rPr>
              <a:t>598</a:t>
            </a:r>
          </a:p>
        </p:txBody>
      </p:sp>
      <p:sp>
        <p:nvSpPr>
          <p:cNvPr id="49" name="Rounded Rectangle 48"/>
          <p:cNvSpPr/>
          <p:nvPr/>
        </p:nvSpPr>
        <p:spPr>
          <a:xfrm>
            <a:off x="3200400" y="4133087"/>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3200400" y="4133087"/>
            <a:ext cx="64008" cy="393192"/>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401568" y="4261103"/>
            <a:ext cx="1874520" cy="274320"/>
          </a:xfrm>
          <a:prstGeom prst="rect">
            <a:avLst/>
          </a:prstGeom>
          <a:noFill/>
        </p:spPr>
        <p:txBody>
          <a:bodyPr wrap="square">
            <a:spAutoFit/>
          </a:bodyPr>
          <a:lstStyle/>
          <a:p>
            <a:pPr algn="l"/>
            <a:r>
              <a:rPr sz="1000" b="1">
                <a:solidFill>
                  <a:srgbClr val="67717D"/>
                </a:solidFill>
                <a:latin typeface="Aptos"/>
              </a:rPr>
              <a:t>Zone C</a:t>
            </a:r>
          </a:p>
        </p:txBody>
      </p:sp>
      <p:sp>
        <p:nvSpPr>
          <p:cNvPr id="52" name="TextBox 51"/>
          <p:cNvSpPr txBox="1"/>
          <p:nvPr/>
        </p:nvSpPr>
        <p:spPr>
          <a:xfrm>
            <a:off x="3401568" y="4572000"/>
            <a:ext cx="1874520" cy="384048"/>
          </a:xfrm>
          <a:prstGeom prst="rect">
            <a:avLst/>
          </a:prstGeom>
          <a:noFill/>
        </p:spPr>
        <p:txBody>
          <a:bodyPr wrap="square">
            <a:spAutoFit/>
          </a:bodyPr>
          <a:lstStyle/>
          <a:p>
            <a:pPr algn="l"/>
            <a:r>
              <a:rPr sz="2300" b="1">
                <a:solidFill>
                  <a:srgbClr val="0A1830"/>
                </a:solidFill>
                <a:latin typeface="Aptos"/>
              </a:rPr>
              <a:t>597</a:t>
            </a:r>
          </a:p>
        </p:txBody>
      </p:sp>
      <p:sp>
        <p:nvSpPr>
          <p:cNvPr id="53" name="Rounded Rectangle 52"/>
          <p:cNvSpPr/>
          <p:nvPr/>
        </p:nvSpPr>
        <p:spPr>
          <a:xfrm>
            <a:off x="3200400" y="4636008"/>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3200400" y="4636008"/>
            <a:ext cx="64008" cy="393192"/>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401568" y="4764024"/>
            <a:ext cx="1874520" cy="274320"/>
          </a:xfrm>
          <a:prstGeom prst="rect">
            <a:avLst/>
          </a:prstGeom>
          <a:noFill/>
        </p:spPr>
        <p:txBody>
          <a:bodyPr wrap="square">
            <a:spAutoFit/>
          </a:bodyPr>
          <a:lstStyle/>
          <a:p>
            <a:pPr algn="l"/>
            <a:r>
              <a:rPr sz="1000" b="1">
                <a:solidFill>
                  <a:srgbClr val="67717D"/>
                </a:solidFill>
                <a:latin typeface="Aptos"/>
              </a:rPr>
              <a:t>Zone F</a:t>
            </a:r>
          </a:p>
        </p:txBody>
      </p:sp>
      <p:sp>
        <p:nvSpPr>
          <p:cNvPr id="56" name="TextBox 55"/>
          <p:cNvSpPr txBox="1"/>
          <p:nvPr/>
        </p:nvSpPr>
        <p:spPr>
          <a:xfrm>
            <a:off x="3401568" y="5074920"/>
            <a:ext cx="1874520" cy="384048"/>
          </a:xfrm>
          <a:prstGeom prst="rect">
            <a:avLst/>
          </a:prstGeom>
          <a:noFill/>
        </p:spPr>
        <p:txBody>
          <a:bodyPr wrap="square">
            <a:spAutoFit/>
          </a:bodyPr>
          <a:lstStyle/>
          <a:p>
            <a:pPr algn="l"/>
            <a:r>
              <a:rPr sz="2300" b="1">
                <a:solidFill>
                  <a:srgbClr val="0A1830"/>
                </a:solidFill>
                <a:latin typeface="Aptos"/>
              </a:rPr>
              <a:t>584</a:t>
            </a:r>
          </a:p>
        </p:txBody>
      </p:sp>
      <p:sp>
        <p:nvSpPr>
          <p:cNvPr id="57" name="Rounded Rectangle 56"/>
          <p:cNvSpPr/>
          <p:nvPr/>
        </p:nvSpPr>
        <p:spPr>
          <a:xfrm>
            <a:off x="3200400" y="5138928"/>
            <a:ext cx="2240280" cy="39319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3200400" y="5138928"/>
            <a:ext cx="64008" cy="393192"/>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01568" y="5266944"/>
            <a:ext cx="1874520" cy="274320"/>
          </a:xfrm>
          <a:prstGeom prst="rect">
            <a:avLst/>
          </a:prstGeom>
          <a:noFill/>
        </p:spPr>
        <p:txBody>
          <a:bodyPr wrap="square">
            <a:spAutoFit/>
          </a:bodyPr>
          <a:lstStyle/>
          <a:p>
            <a:pPr algn="l"/>
            <a:r>
              <a:rPr sz="1000" b="1">
                <a:solidFill>
                  <a:srgbClr val="67717D"/>
                </a:solidFill>
                <a:latin typeface="Aptos"/>
              </a:rPr>
              <a:t>Zone I</a:t>
            </a:r>
          </a:p>
        </p:txBody>
      </p:sp>
      <p:sp>
        <p:nvSpPr>
          <p:cNvPr id="60" name="TextBox 59"/>
          <p:cNvSpPr txBox="1"/>
          <p:nvPr/>
        </p:nvSpPr>
        <p:spPr>
          <a:xfrm>
            <a:off x="3401568" y="5577840"/>
            <a:ext cx="1874520" cy="384048"/>
          </a:xfrm>
          <a:prstGeom prst="rect">
            <a:avLst/>
          </a:prstGeom>
          <a:noFill/>
        </p:spPr>
        <p:txBody>
          <a:bodyPr wrap="square">
            <a:spAutoFit/>
          </a:bodyPr>
          <a:lstStyle/>
          <a:p>
            <a:pPr algn="l"/>
            <a:r>
              <a:rPr sz="2300" b="1">
                <a:solidFill>
                  <a:srgbClr val="0A1830"/>
                </a:solidFill>
                <a:latin typeface="Aptos"/>
              </a:rPr>
              <a:t>573</a:t>
            </a:r>
          </a:p>
        </p:txBody>
      </p:sp>
      <p:sp>
        <p:nvSpPr>
          <p:cNvPr id="61" name="TextBox 60"/>
          <p:cNvSpPr txBox="1"/>
          <p:nvPr/>
        </p:nvSpPr>
        <p:spPr>
          <a:xfrm>
            <a:off x="5989320" y="2743200"/>
            <a:ext cx="2743200" cy="274320"/>
          </a:xfrm>
          <a:prstGeom prst="rect">
            <a:avLst/>
          </a:prstGeom>
          <a:noFill/>
        </p:spPr>
        <p:txBody>
          <a:bodyPr wrap="square">
            <a:spAutoFit/>
          </a:bodyPr>
          <a:lstStyle/>
          <a:p>
            <a:pPr algn="l"/>
            <a:r>
              <a:rPr sz="1400" b="1">
                <a:solidFill>
                  <a:srgbClr val="0A1830"/>
                </a:solidFill>
                <a:latin typeface="Aptos"/>
              </a:rPr>
              <a:t>Hotspot interpretation</a:t>
            </a:r>
          </a:p>
        </p:txBody>
      </p:sp>
      <p:sp>
        <p:nvSpPr>
          <p:cNvPr id="62" name="TextBox 61"/>
          <p:cNvSpPr txBox="1"/>
          <p:nvPr/>
        </p:nvSpPr>
        <p:spPr>
          <a:xfrm>
            <a:off x="5989320" y="3154680"/>
            <a:ext cx="5074920" cy="2468880"/>
          </a:xfrm>
          <a:prstGeom prst="rect">
            <a:avLst/>
          </a:prstGeom>
          <a:noFill/>
        </p:spPr>
        <p:txBody>
          <a:bodyPr wrap="square">
            <a:spAutoFit/>
          </a:bodyPr>
          <a:lstStyle/>
          <a:p>
            <a:pPr>
              <a:spcAft>
                <a:spcPts val="800"/>
              </a:spcAft>
              <a:defRPr sz="1400">
                <a:solidFill>
                  <a:srgbClr val="232B36"/>
                </a:solidFill>
                <a:latin typeface="Aptos"/>
              </a:defRPr>
            </a:pPr>
            <a:r>
              <a:t>• Zone H has the highest displayed incident count: 624.</a:t>
            </a:r>
          </a:p>
          <a:p>
            <a:pPr>
              <a:spcAft>
                <a:spcPts val="800"/>
              </a:spcAft>
              <a:defRPr sz="1400">
                <a:solidFill>
                  <a:srgbClr val="232B36"/>
                </a:solidFill>
                <a:latin typeface="Aptos"/>
              </a:defRPr>
            </a:pPr>
            <a:r>
              <a:t>• Zones G, A and J each show 607 incidents.</a:t>
            </a:r>
          </a:p>
          <a:p>
            <a:pPr>
              <a:spcAft>
                <a:spcPts val="800"/>
              </a:spcAft>
              <a:defRPr sz="1400">
                <a:solidFill>
                  <a:srgbClr val="232B36"/>
                </a:solidFill>
                <a:latin typeface="Aptos"/>
              </a:defRPr>
            </a:pPr>
            <a:r>
              <a:t>• Incident count identifies concentration; it does not by itself prove highest risk.</a:t>
            </a:r>
          </a:p>
          <a:p>
            <a:pPr>
              <a:spcAft>
                <a:spcPts val="800"/>
              </a:spcAft>
              <a:defRPr sz="1400">
                <a:solidFill>
                  <a:srgbClr val="232B36"/>
                </a:solidFill>
                <a:latin typeface="Aptos"/>
              </a:defRPr>
            </a:pPr>
            <a:r>
              <a:t>• Use risk tier and location context to prioritize the hotspot.</a:t>
            </a:r>
          </a:p>
        </p:txBody>
      </p:sp>
      <p:sp>
        <p:nvSpPr>
          <p:cNvPr id="63" name="TextBox 62"/>
          <p:cNvSpPr txBox="1"/>
          <p:nvPr/>
        </p:nvSpPr>
        <p:spPr>
          <a:xfrm>
            <a:off x="5989320" y="5623560"/>
            <a:ext cx="5029200" cy="502920"/>
          </a:xfrm>
          <a:prstGeom prst="rect">
            <a:avLst/>
          </a:prstGeom>
          <a:noFill/>
        </p:spPr>
        <p:txBody>
          <a:bodyPr wrap="square">
            <a:spAutoFit/>
          </a:bodyPr>
          <a:lstStyle/>
          <a:p>
            <a:pPr algn="l"/>
            <a:r>
              <a:rPr sz="1200" b="1">
                <a:solidFill>
                  <a:srgbClr val="D23A41"/>
                </a:solidFill>
                <a:latin typeface="Aptos"/>
              </a:rPr>
              <a:t>Map accuracy requires verified latitude/longitude and a documented geographic source.</a:t>
            </a:r>
          </a:p>
        </p:txBody>
      </p:sp>
      <p:sp>
        <p:nvSpPr>
          <p:cNvPr id="64" name="TextBox 63"/>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65" name="TextBox 64"/>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905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4. HOW risky are they?</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Risk surface analysis</a:t>
            </a:r>
          </a:p>
        </p:txBody>
      </p:sp>
      <p:sp>
        <p:nvSpPr>
          <p:cNvPr id="5" name="Rounded Rectangle 4"/>
          <p:cNvSpPr/>
          <p:nvPr/>
        </p:nvSpPr>
        <p:spPr>
          <a:xfrm>
            <a:off x="640080" y="1234440"/>
            <a:ext cx="256032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64008" cy="1417320"/>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362456"/>
            <a:ext cx="2194560" cy="274320"/>
          </a:xfrm>
          <a:prstGeom prst="rect">
            <a:avLst/>
          </a:prstGeom>
          <a:noFill/>
        </p:spPr>
        <p:txBody>
          <a:bodyPr wrap="square">
            <a:spAutoFit/>
          </a:bodyPr>
          <a:lstStyle/>
          <a:p>
            <a:pPr algn="l"/>
            <a:r>
              <a:rPr sz="1000" b="1">
                <a:solidFill>
                  <a:srgbClr val="67717D"/>
                </a:solidFill>
                <a:latin typeface="Aptos"/>
              </a:rPr>
              <a:t>RISK TIER</a:t>
            </a:r>
          </a:p>
        </p:txBody>
      </p:sp>
      <p:sp>
        <p:nvSpPr>
          <p:cNvPr id="8" name="TextBox 7"/>
          <p:cNvSpPr txBox="1"/>
          <p:nvPr/>
        </p:nvSpPr>
        <p:spPr>
          <a:xfrm>
            <a:off x="822960" y="1463039"/>
            <a:ext cx="2194560" cy="384048"/>
          </a:xfrm>
          <a:prstGeom prst="rect">
            <a:avLst/>
          </a:prstGeom>
          <a:noFill/>
        </p:spPr>
        <p:txBody>
          <a:bodyPr wrap="square">
            <a:spAutoFit/>
          </a:bodyPr>
          <a:lstStyle/>
          <a:p>
            <a:pPr algn="l"/>
            <a:r>
              <a:rPr sz="2300" b="1" dirty="0">
                <a:solidFill>
                  <a:srgbClr val="0A1830"/>
                </a:solidFill>
                <a:latin typeface="Aptos"/>
              </a:rPr>
              <a:t>Critical / High / Medium / Low</a:t>
            </a:r>
          </a:p>
        </p:txBody>
      </p:sp>
      <p:sp>
        <p:nvSpPr>
          <p:cNvPr id="9" name="TextBox 8"/>
          <p:cNvSpPr txBox="1"/>
          <p:nvPr/>
        </p:nvSpPr>
        <p:spPr>
          <a:xfrm>
            <a:off x="841247" y="2148840"/>
            <a:ext cx="2194560" cy="411479"/>
          </a:xfrm>
          <a:prstGeom prst="rect">
            <a:avLst/>
          </a:prstGeom>
          <a:noFill/>
        </p:spPr>
        <p:txBody>
          <a:bodyPr wrap="square">
            <a:spAutoFit/>
          </a:bodyPr>
          <a:lstStyle/>
          <a:p>
            <a:pPr algn="l"/>
            <a:r>
              <a:rPr sz="1100" b="0">
                <a:solidFill>
                  <a:srgbClr val="232B36"/>
                </a:solidFill>
                <a:latin typeface="Aptos"/>
              </a:rPr>
              <a:t>Use the tier to distinguish severity beyond volume.</a:t>
            </a:r>
          </a:p>
        </p:txBody>
      </p:sp>
      <p:sp>
        <p:nvSpPr>
          <p:cNvPr id="10" name="Rounded Rectangle 9"/>
          <p:cNvSpPr/>
          <p:nvPr/>
        </p:nvSpPr>
        <p:spPr>
          <a:xfrm>
            <a:off x="3383280" y="1234440"/>
            <a:ext cx="256032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83280" y="1234440"/>
            <a:ext cx="64008" cy="1417320"/>
          </a:xfrm>
          <a:prstGeom prst="rect">
            <a:avLst/>
          </a:prstGeom>
          <a:solidFill>
            <a:srgbClr val="EE7E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84448" y="1362456"/>
            <a:ext cx="2194560" cy="274320"/>
          </a:xfrm>
          <a:prstGeom prst="rect">
            <a:avLst/>
          </a:prstGeom>
          <a:noFill/>
        </p:spPr>
        <p:txBody>
          <a:bodyPr wrap="square">
            <a:spAutoFit/>
          </a:bodyPr>
          <a:lstStyle/>
          <a:p>
            <a:pPr algn="l"/>
            <a:r>
              <a:rPr sz="1000" b="1">
                <a:solidFill>
                  <a:srgbClr val="67717D"/>
                </a:solidFill>
                <a:latin typeface="Aptos"/>
              </a:rPr>
              <a:t>RISK SCORE</a:t>
            </a:r>
          </a:p>
        </p:txBody>
      </p:sp>
      <p:sp>
        <p:nvSpPr>
          <p:cNvPr id="13" name="TextBox 12"/>
          <p:cNvSpPr txBox="1"/>
          <p:nvPr/>
        </p:nvSpPr>
        <p:spPr>
          <a:xfrm>
            <a:off x="3584448" y="1673352"/>
            <a:ext cx="2194560" cy="384048"/>
          </a:xfrm>
          <a:prstGeom prst="rect">
            <a:avLst/>
          </a:prstGeom>
          <a:noFill/>
        </p:spPr>
        <p:txBody>
          <a:bodyPr wrap="square">
            <a:spAutoFit/>
          </a:bodyPr>
          <a:lstStyle/>
          <a:p>
            <a:pPr algn="l"/>
            <a:r>
              <a:rPr sz="2300" b="1">
                <a:solidFill>
                  <a:srgbClr val="0A1830"/>
                </a:solidFill>
                <a:latin typeface="Aptos"/>
              </a:rPr>
              <a:t>TSI context</a:t>
            </a:r>
          </a:p>
        </p:txBody>
      </p:sp>
      <p:sp>
        <p:nvSpPr>
          <p:cNvPr id="14" name="TextBox 13"/>
          <p:cNvSpPr txBox="1"/>
          <p:nvPr/>
        </p:nvSpPr>
        <p:spPr>
          <a:xfrm>
            <a:off x="3584448" y="2148840"/>
            <a:ext cx="2194560" cy="411479"/>
          </a:xfrm>
          <a:prstGeom prst="rect">
            <a:avLst/>
          </a:prstGeom>
          <a:noFill/>
        </p:spPr>
        <p:txBody>
          <a:bodyPr wrap="square">
            <a:spAutoFit/>
          </a:bodyPr>
          <a:lstStyle/>
          <a:p>
            <a:pPr algn="l"/>
            <a:r>
              <a:rPr sz="1100" b="0">
                <a:solidFill>
                  <a:srgbClr val="232B36"/>
                </a:solidFill>
                <a:latin typeface="Aptos"/>
              </a:rPr>
              <a:t>Use the validated TSI/risk score alongside volume.</a:t>
            </a:r>
          </a:p>
        </p:txBody>
      </p:sp>
      <p:sp>
        <p:nvSpPr>
          <p:cNvPr id="15" name="Rounded Rectangle 14"/>
          <p:cNvSpPr/>
          <p:nvPr/>
        </p:nvSpPr>
        <p:spPr>
          <a:xfrm>
            <a:off x="6126480" y="1234440"/>
            <a:ext cx="256032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26480" y="1234440"/>
            <a:ext cx="64008" cy="1417320"/>
          </a:xfrm>
          <a:prstGeom prst="rect">
            <a:avLst/>
          </a:prstGeom>
          <a:solidFill>
            <a:srgbClr val="E8B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7648" y="1362456"/>
            <a:ext cx="2194560" cy="274320"/>
          </a:xfrm>
          <a:prstGeom prst="rect">
            <a:avLst/>
          </a:prstGeom>
          <a:noFill/>
        </p:spPr>
        <p:txBody>
          <a:bodyPr wrap="square">
            <a:spAutoFit/>
          </a:bodyPr>
          <a:lstStyle/>
          <a:p>
            <a:pPr algn="l"/>
            <a:r>
              <a:rPr sz="1000" b="1">
                <a:solidFill>
                  <a:srgbClr val="67717D"/>
                </a:solidFill>
                <a:latin typeface="Aptos"/>
              </a:rPr>
              <a:t>ANOMALY</a:t>
            </a:r>
          </a:p>
        </p:txBody>
      </p:sp>
      <p:sp>
        <p:nvSpPr>
          <p:cNvPr id="18" name="TextBox 17"/>
          <p:cNvSpPr txBox="1"/>
          <p:nvPr/>
        </p:nvSpPr>
        <p:spPr>
          <a:xfrm>
            <a:off x="6327648" y="1673352"/>
            <a:ext cx="2194560" cy="384048"/>
          </a:xfrm>
          <a:prstGeom prst="rect">
            <a:avLst/>
          </a:prstGeom>
          <a:noFill/>
        </p:spPr>
        <p:txBody>
          <a:bodyPr wrap="square">
            <a:spAutoFit/>
          </a:bodyPr>
          <a:lstStyle/>
          <a:p>
            <a:pPr algn="l"/>
            <a:r>
              <a:rPr sz="2300" b="1">
                <a:solidFill>
                  <a:srgbClr val="0A1830"/>
                </a:solidFill>
                <a:latin typeface="Aptos"/>
              </a:rPr>
              <a:t>Z-score</a:t>
            </a:r>
          </a:p>
        </p:txBody>
      </p:sp>
      <p:sp>
        <p:nvSpPr>
          <p:cNvPr id="19" name="TextBox 18"/>
          <p:cNvSpPr txBox="1"/>
          <p:nvPr/>
        </p:nvSpPr>
        <p:spPr>
          <a:xfrm>
            <a:off x="6327648" y="2148840"/>
            <a:ext cx="2194560" cy="411479"/>
          </a:xfrm>
          <a:prstGeom prst="rect">
            <a:avLst/>
          </a:prstGeom>
          <a:noFill/>
        </p:spPr>
        <p:txBody>
          <a:bodyPr wrap="square">
            <a:spAutoFit/>
          </a:bodyPr>
          <a:lstStyle/>
          <a:p>
            <a:pPr algn="l"/>
            <a:r>
              <a:rPr sz="1100" b="0">
                <a:solidFill>
                  <a:srgbClr val="232B36"/>
                </a:solidFill>
                <a:latin typeface="Aptos"/>
              </a:rPr>
              <a:t>Use unusual observations as investigation triggers.</a:t>
            </a:r>
          </a:p>
        </p:txBody>
      </p:sp>
      <p:sp>
        <p:nvSpPr>
          <p:cNvPr id="20" name="Rounded Rectangle 19"/>
          <p:cNvSpPr/>
          <p:nvPr/>
        </p:nvSpPr>
        <p:spPr>
          <a:xfrm>
            <a:off x="8869680" y="1234440"/>
            <a:ext cx="256032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869680" y="1234440"/>
            <a:ext cx="64008"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70848" y="1362456"/>
            <a:ext cx="2194560" cy="274320"/>
          </a:xfrm>
          <a:prstGeom prst="rect">
            <a:avLst/>
          </a:prstGeom>
          <a:noFill/>
        </p:spPr>
        <p:txBody>
          <a:bodyPr wrap="square">
            <a:spAutoFit/>
          </a:bodyPr>
          <a:lstStyle/>
          <a:p>
            <a:pPr algn="l"/>
            <a:r>
              <a:rPr sz="1000" b="1">
                <a:solidFill>
                  <a:srgbClr val="67717D"/>
                </a:solidFill>
                <a:latin typeface="Aptos"/>
              </a:rPr>
              <a:t>PRIORITY</a:t>
            </a:r>
          </a:p>
        </p:txBody>
      </p:sp>
      <p:sp>
        <p:nvSpPr>
          <p:cNvPr id="23" name="TextBox 22"/>
          <p:cNvSpPr txBox="1"/>
          <p:nvPr/>
        </p:nvSpPr>
        <p:spPr>
          <a:xfrm>
            <a:off x="9070848" y="1673352"/>
            <a:ext cx="2194560" cy="384048"/>
          </a:xfrm>
          <a:prstGeom prst="rect">
            <a:avLst/>
          </a:prstGeom>
          <a:noFill/>
        </p:spPr>
        <p:txBody>
          <a:bodyPr wrap="square">
            <a:spAutoFit/>
          </a:bodyPr>
          <a:lstStyle/>
          <a:p>
            <a:pPr algn="l"/>
            <a:r>
              <a:rPr sz="2300" b="1">
                <a:solidFill>
                  <a:srgbClr val="0A1830"/>
                </a:solidFill>
                <a:latin typeface="Aptos"/>
              </a:rPr>
              <a:t>Risk + location</a:t>
            </a:r>
          </a:p>
        </p:txBody>
      </p:sp>
      <p:sp>
        <p:nvSpPr>
          <p:cNvPr id="24" name="TextBox 23"/>
          <p:cNvSpPr txBox="1"/>
          <p:nvPr/>
        </p:nvSpPr>
        <p:spPr>
          <a:xfrm>
            <a:off x="9070848" y="2148840"/>
            <a:ext cx="2194560" cy="411479"/>
          </a:xfrm>
          <a:prstGeom prst="rect">
            <a:avLst/>
          </a:prstGeom>
          <a:noFill/>
        </p:spPr>
        <p:txBody>
          <a:bodyPr wrap="square">
            <a:spAutoFit/>
          </a:bodyPr>
          <a:lstStyle/>
          <a:p>
            <a:pPr algn="l"/>
            <a:r>
              <a:rPr sz="1100" b="0">
                <a:solidFill>
                  <a:srgbClr val="232B36"/>
                </a:solidFill>
                <a:latin typeface="Aptos"/>
              </a:rPr>
              <a:t>Focus resources where exposure is highest.</a:t>
            </a:r>
          </a:p>
        </p:txBody>
      </p:sp>
      <p:sp>
        <p:nvSpPr>
          <p:cNvPr id="25" name="TextBox 24"/>
          <p:cNvSpPr txBox="1"/>
          <p:nvPr/>
        </p:nvSpPr>
        <p:spPr>
          <a:xfrm>
            <a:off x="685800" y="3063240"/>
            <a:ext cx="3657600" cy="274320"/>
          </a:xfrm>
          <a:prstGeom prst="rect">
            <a:avLst/>
          </a:prstGeom>
          <a:noFill/>
        </p:spPr>
        <p:txBody>
          <a:bodyPr wrap="square">
            <a:spAutoFit/>
          </a:bodyPr>
          <a:lstStyle/>
          <a:p>
            <a:pPr algn="l"/>
            <a:r>
              <a:rPr sz="1500" b="1">
                <a:solidFill>
                  <a:srgbClr val="0A1830"/>
                </a:solidFill>
                <a:latin typeface="Aptos"/>
              </a:rPr>
              <a:t>Risk surface decision matrix</a:t>
            </a:r>
          </a:p>
        </p:txBody>
      </p:sp>
      <p:sp>
        <p:nvSpPr>
          <p:cNvPr id="26" name="Rounded Rectangle 25"/>
          <p:cNvSpPr/>
          <p:nvPr/>
        </p:nvSpPr>
        <p:spPr>
          <a:xfrm>
            <a:off x="685800" y="3456432"/>
            <a:ext cx="1691640" cy="5029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5800" y="3456432"/>
            <a:ext cx="64008" cy="50292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86968" y="3584448"/>
            <a:ext cx="1325880" cy="274320"/>
          </a:xfrm>
          <a:prstGeom prst="rect">
            <a:avLst/>
          </a:prstGeom>
          <a:noFill/>
        </p:spPr>
        <p:txBody>
          <a:bodyPr wrap="square">
            <a:spAutoFit/>
          </a:bodyPr>
          <a:lstStyle/>
          <a:p>
            <a:pPr algn="l"/>
            <a:r>
              <a:rPr sz="1000" b="1">
                <a:solidFill>
                  <a:srgbClr val="67717D"/>
                </a:solidFill>
                <a:latin typeface="Aptos"/>
              </a:rPr>
              <a:t>Incident activity</a:t>
            </a:r>
          </a:p>
        </p:txBody>
      </p:sp>
      <p:sp>
        <p:nvSpPr>
          <p:cNvPr id="29" name="Rounded Rectangle 28"/>
          <p:cNvSpPr/>
          <p:nvPr/>
        </p:nvSpPr>
        <p:spPr>
          <a:xfrm>
            <a:off x="2514600" y="3456432"/>
            <a:ext cx="1691640" cy="5029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4600" y="3456432"/>
            <a:ext cx="64008" cy="50292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15768" y="3584448"/>
            <a:ext cx="1325880" cy="274320"/>
          </a:xfrm>
          <a:prstGeom prst="rect">
            <a:avLst/>
          </a:prstGeom>
          <a:noFill/>
        </p:spPr>
        <p:txBody>
          <a:bodyPr wrap="square">
            <a:spAutoFit/>
          </a:bodyPr>
          <a:lstStyle/>
          <a:p>
            <a:pPr algn="l"/>
            <a:r>
              <a:rPr sz="1000" b="1">
                <a:solidFill>
                  <a:srgbClr val="67717D"/>
                </a:solidFill>
                <a:latin typeface="Aptos"/>
              </a:rPr>
              <a:t>Risk tier</a:t>
            </a:r>
          </a:p>
        </p:txBody>
      </p:sp>
      <p:sp>
        <p:nvSpPr>
          <p:cNvPr id="32" name="Rounded Rectangle 31"/>
          <p:cNvSpPr/>
          <p:nvPr/>
        </p:nvSpPr>
        <p:spPr>
          <a:xfrm>
            <a:off x="4343400" y="3456432"/>
            <a:ext cx="1691640" cy="5029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43400" y="3456432"/>
            <a:ext cx="64008" cy="50292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44568" y="3584448"/>
            <a:ext cx="1325880" cy="274320"/>
          </a:xfrm>
          <a:prstGeom prst="rect">
            <a:avLst/>
          </a:prstGeom>
          <a:noFill/>
        </p:spPr>
        <p:txBody>
          <a:bodyPr wrap="square">
            <a:spAutoFit/>
          </a:bodyPr>
          <a:lstStyle/>
          <a:p>
            <a:pPr algn="l"/>
            <a:r>
              <a:rPr sz="1000" b="1">
                <a:solidFill>
                  <a:srgbClr val="67717D"/>
                </a:solidFill>
                <a:latin typeface="Aptos"/>
              </a:rPr>
              <a:t>Operational meaning</a:t>
            </a:r>
          </a:p>
        </p:txBody>
      </p:sp>
      <p:sp>
        <p:nvSpPr>
          <p:cNvPr id="35" name="Rounded Rectangle 34"/>
          <p:cNvSpPr/>
          <p:nvPr/>
        </p:nvSpPr>
        <p:spPr>
          <a:xfrm>
            <a:off x="685800" y="4041648"/>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85800" y="4041648"/>
            <a:ext cx="64008" cy="475488"/>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86968" y="4169663"/>
            <a:ext cx="1325880" cy="274320"/>
          </a:xfrm>
          <a:prstGeom prst="rect">
            <a:avLst/>
          </a:prstGeom>
          <a:noFill/>
        </p:spPr>
        <p:txBody>
          <a:bodyPr wrap="square">
            <a:spAutoFit/>
          </a:bodyPr>
          <a:lstStyle/>
          <a:p>
            <a:pPr algn="l"/>
            <a:r>
              <a:rPr sz="1000" b="1">
                <a:solidFill>
                  <a:srgbClr val="67717D"/>
                </a:solidFill>
                <a:latin typeface="Aptos"/>
              </a:rPr>
              <a:t>High</a:t>
            </a:r>
          </a:p>
        </p:txBody>
      </p:sp>
      <p:sp>
        <p:nvSpPr>
          <p:cNvPr id="38" name="Rounded Rectangle 37"/>
          <p:cNvSpPr/>
          <p:nvPr/>
        </p:nvSpPr>
        <p:spPr>
          <a:xfrm>
            <a:off x="2514600" y="4041648"/>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4600" y="4041648"/>
            <a:ext cx="64008" cy="475488"/>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15768" y="4169663"/>
            <a:ext cx="1325880" cy="274320"/>
          </a:xfrm>
          <a:prstGeom prst="rect">
            <a:avLst/>
          </a:prstGeom>
          <a:noFill/>
        </p:spPr>
        <p:txBody>
          <a:bodyPr wrap="square">
            <a:spAutoFit/>
          </a:bodyPr>
          <a:lstStyle/>
          <a:p>
            <a:pPr algn="l"/>
            <a:r>
              <a:rPr sz="1000" b="1">
                <a:solidFill>
                  <a:srgbClr val="67717D"/>
                </a:solidFill>
                <a:latin typeface="Aptos"/>
              </a:rPr>
              <a:t>Critical / High</a:t>
            </a:r>
          </a:p>
        </p:txBody>
      </p:sp>
      <p:sp>
        <p:nvSpPr>
          <p:cNvPr id="41" name="Rounded Rectangle 40"/>
          <p:cNvSpPr/>
          <p:nvPr/>
        </p:nvSpPr>
        <p:spPr>
          <a:xfrm>
            <a:off x="4343400" y="4041648"/>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343400" y="4041648"/>
            <a:ext cx="64008" cy="475488"/>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544568" y="4169663"/>
            <a:ext cx="1325880" cy="274320"/>
          </a:xfrm>
          <a:prstGeom prst="rect">
            <a:avLst/>
          </a:prstGeom>
          <a:noFill/>
        </p:spPr>
        <p:txBody>
          <a:bodyPr wrap="square">
            <a:spAutoFit/>
          </a:bodyPr>
          <a:lstStyle/>
          <a:p>
            <a:pPr algn="l"/>
            <a:r>
              <a:rPr sz="1000" b="1">
                <a:solidFill>
                  <a:srgbClr val="67717D"/>
                </a:solidFill>
                <a:latin typeface="Aptos"/>
              </a:rPr>
              <a:t>Immediate / priority attention</a:t>
            </a:r>
          </a:p>
        </p:txBody>
      </p:sp>
      <p:sp>
        <p:nvSpPr>
          <p:cNvPr id="44" name="Rounded Rectangle 43"/>
          <p:cNvSpPr/>
          <p:nvPr/>
        </p:nvSpPr>
        <p:spPr>
          <a:xfrm>
            <a:off x="685800" y="4608576"/>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85800" y="4608576"/>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86968" y="4736592"/>
            <a:ext cx="1325880" cy="274320"/>
          </a:xfrm>
          <a:prstGeom prst="rect">
            <a:avLst/>
          </a:prstGeom>
          <a:noFill/>
        </p:spPr>
        <p:txBody>
          <a:bodyPr wrap="square">
            <a:spAutoFit/>
          </a:bodyPr>
          <a:lstStyle/>
          <a:p>
            <a:pPr algn="l"/>
            <a:r>
              <a:rPr sz="1000" b="1">
                <a:solidFill>
                  <a:srgbClr val="67717D"/>
                </a:solidFill>
                <a:latin typeface="Aptos"/>
              </a:rPr>
              <a:t>High</a:t>
            </a:r>
          </a:p>
        </p:txBody>
      </p:sp>
      <p:sp>
        <p:nvSpPr>
          <p:cNvPr id="47" name="Rounded Rectangle 46"/>
          <p:cNvSpPr/>
          <p:nvPr/>
        </p:nvSpPr>
        <p:spPr>
          <a:xfrm>
            <a:off x="2514600" y="4608576"/>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514600" y="4608576"/>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715768" y="4736592"/>
            <a:ext cx="1325880" cy="274320"/>
          </a:xfrm>
          <a:prstGeom prst="rect">
            <a:avLst/>
          </a:prstGeom>
          <a:noFill/>
        </p:spPr>
        <p:txBody>
          <a:bodyPr wrap="square">
            <a:spAutoFit/>
          </a:bodyPr>
          <a:lstStyle/>
          <a:p>
            <a:pPr algn="l"/>
            <a:r>
              <a:rPr sz="1000" b="1">
                <a:solidFill>
                  <a:srgbClr val="67717D"/>
                </a:solidFill>
                <a:latin typeface="Aptos"/>
              </a:rPr>
              <a:t>Medium</a:t>
            </a:r>
          </a:p>
        </p:txBody>
      </p:sp>
      <p:sp>
        <p:nvSpPr>
          <p:cNvPr id="50" name="Rounded Rectangle 49"/>
          <p:cNvSpPr/>
          <p:nvPr/>
        </p:nvSpPr>
        <p:spPr>
          <a:xfrm>
            <a:off x="4343400" y="4608576"/>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343400" y="4608576"/>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44568" y="4736592"/>
            <a:ext cx="1325880" cy="274320"/>
          </a:xfrm>
          <a:prstGeom prst="rect">
            <a:avLst/>
          </a:prstGeom>
          <a:noFill/>
        </p:spPr>
        <p:txBody>
          <a:bodyPr wrap="square">
            <a:spAutoFit/>
          </a:bodyPr>
          <a:lstStyle/>
          <a:p>
            <a:pPr algn="l"/>
            <a:r>
              <a:rPr sz="1000" b="1">
                <a:solidFill>
                  <a:srgbClr val="67717D"/>
                </a:solidFill>
                <a:latin typeface="Aptos"/>
              </a:rPr>
              <a:t>Investigate and monitor</a:t>
            </a:r>
          </a:p>
        </p:txBody>
      </p:sp>
      <p:sp>
        <p:nvSpPr>
          <p:cNvPr id="53" name="Rounded Rectangle 52"/>
          <p:cNvSpPr/>
          <p:nvPr/>
        </p:nvSpPr>
        <p:spPr>
          <a:xfrm>
            <a:off x="685800" y="5175504"/>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85800" y="5175504"/>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86968" y="5303520"/>
            <a:ext cx="1325880" cy="274320"/>
          </a:xfrm>
          <a:prstGeom prst="rect">
            <a:avLst/>
          </a:prstGeom>
          <a:noFill/>
        </p:spPr>
        <p:txBody>
          <a:bodyPr wrap="square">
            <a:spAutoFit/>
          </a:bodyPr>
          <a:lstStyle/>
          <a:p>
            <a:pPr algn="l"/>
            <a:r>
              <a:rPr sz="1000" b="1">
                <a:solidFill>
                  <a:srgbClr val="67717D"/>
                </a:solidFill>
                <a:latin typeface="Aptos"/>
              </a:rPr>
              <a:t>Low</a:t>
            </a:r>
          </a:p>
        </p:txBody>
      </p:sp>
      <p:sp>
        <p:nvSpPr>
          <p:cNvPr id="56" name="Rounded Rectangle 55"/>
          <p:cNvSpPr/>
          <p:nvPr/>
        </p:nvSpPr>
        <p:spPr>
          <a:xfrm>
            <a:off x="2514600" y="5175504"/>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2514600" y="5175504"/>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715768" y="5303520"/>
            <a:ext cx="1325880" cy="274320"/>
          </a:xfrm>
          <a:prstGeom prst="rect">
            <a:avLst/>
          </a:prstGeom>
          <a:noFill/>
        </p:spPr>
        <p:txBody>
          <a:bodyPr wrap="square">
            <a:spAutoFit/>
          </a:bodyPr>
          <a:lstStyle/>
          <a:p>
            <a:pPr algn="l"/>
            <a:r>
              <a:rPr sz="1000" b="1">
                <a:solidFill>
                  <a:srgbClr val="67717D"/>
                </a:solidFill>
                <a:latin typeface="Aptos"/>
              </a:rPr>
              <a:t>Critical / High</a:t>
            </a:r>
          </a:p>
        </p:txBody>
      </p:sp>
      <p:sp>
        <p:nvSpPr>
          <p:cNvPr id="59" name="Rounded Rectangle 58"/>
          <p:cNvSpPr/>
          <p:nvPr/>
        </p:nvSpPr>
        <p:spPr>
          <a:xfrm>
            <a:off x="4343400" y="5175504"/>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343400" y="5175504"/>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544568" y="5303520"/>
            <a:ext cx="1325880" cy="274320"/>
          </a:xfrm>
          <a:prstGeom prst="rect">
            <a:avLst/>
          </a:prstGeom>
          <a:noFill/>
        </p:spPr>
        <p:txBody>
          <a:bodyPr wrap="square">
            <a:spAutoFit/>
          </a:bodyPr>
          <a:lstStyle/>
          <a:p>
            <a:pPr algn="l"/>
            <a:r>
              <a:rPr sz="1000" b="1">
                <a:solidFill>
                  <a:srgbClr val="67717D"/>
                </a:solidFill>
                <a:latin typeface="Aptos"/>
              </a:rPr>
              <a:t>Risk-driven attention</a:t>
            </a:r>
          </a:p>
        </p:txBody>
      </p:sp>
      <p:sp>
        <p:nvSpPr>
          <p:cNvPr id="62" name="Rounded Rectangle 61"/>
          <p:cNvSpPr/>
          <p:nvPr/>
        </p:nvSpPr>
        <p:spPr>
          <a:xfrm>
            <a:off x="685800" y="5742431"/>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85800" y="5742431"/>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86968" y="5870447"/>
            <a:ext cx="1325880" cy="274320"/>
          </a:xfrm>
          <a:prstGeom prst="rect">
            <a:avLst/>
          </a:prstGeom>
          <a:noFill/>
        </p:spPr>
        <p:txBody>
          <a:bodyPr wrap="square">
            <a:spAutoFit/>
          </a:bodyPr>
          <a:lstStyle/>
          <a:p>
            <a:pPr algn="l"/>
            <a:r>
              <a:rPr sz="1000" b="1">
                <a:solidFill>
                  <a:srgbClr val="67717D"/>
                </a:solidFill>
                <a:latin typeface="Aptos"/>
              </a:rPr>
              <a:t>Low</a:t>
            </a:r>
          </a:p>
        </p:txBody>
      </p:sp>
      <p:sp>
        <p:nvSpPr>
          <p:cNvPr id="65" name="Rounded Rectangle 64"/>
          <p:cNvSpPr/>
          <p:nvPr/>
        </p:nvSpPr>
        <p:spPr>
          <a:xfrm>
            <a:off x="2514600" y="5742431"/>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2514600" y="5742431"/>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715768" y="5870447"/>
            <a:ext cx="1325880" cy="274320"/>
          </a:xfrm>
          <a:prstGeom prst="rect">
            <a:avLst/>
          </a:prstGeom>
          <a:noFill/>
        </p:spPr>
        <p:txBody>
          <a:bodyPr wrap="square">
            <a:spAutoFit/>
          </a:bodyPr>
          <a:lstStyle/>
          <a:p>
            <a:pPr algn="l"/>
            <a:r>
              <a:rPr sz="1000" b="1">
                <a:solidFill>
                  <a:srgbClr val="67717D"/>
                </a:solidFill>
                <a:latin typeface="Aptos"/>
              </a:rPr>
              <a:t>Low / Medium</a:t>
            </a:r>
          </a:p>
        </p:txBody>
      </p:sp>
      <p:sp>
        <p:nvSpPr>
          <p:cNvPr id="68" name="Rounded Rectangle 67"/>
          <p:cNvSpPr/>
          <p:nvPr/>
        </p:nvSpPr>
        <p:spPr>
          <a:xfrm>
            <a:off x="4343400" y="5742431"/>
            <a:ext cx="169164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343400" y="5742431"/>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544568" y="5870447"/>
            <a:ext cx="1325880" cy="274320"/>
          </a:xfrm>
          <a:prstGeom prst="rect">
            <a:avLst/>
          </a:prstGeom>
          <a:noFill/>
        </p:spPr>
        <p:txBody>
          <a:bodyPr wrap="square">
            <a:spAutoFit/>
          </a:bodyPr>
          <a:lstStyle/>
          <a:p>
            <a:pPr algn="l"/>
            <a:r>
              <a:rPr sz="1000" b="1">
                <a:solidFill>
                  <a:srgbClr val="67717D"/>
                </a:solidFill>
                <a:latin typeface="Aptos"/>
              </a:rPr>
              <a:t>Routine / enhanced monitoring</a:t>
            </a:r>
          </a:p>
        </p:txBody>
      </p:sp>
      <p:sp>
        <p:nvSpPr>
          <p:cNvPr id="71" name="TextBox 70"/>
          <p:cNvSpPr txBox="1"/>
          <p:nvPr/>
        </p:nvSpPr>
        <p:spPr>
          <a:xfrm>
            <a:off x="731520" y="6355080"/>
            <a:ext cx="10698480" cy="274320"/>
          </a:xfrm>
          <a:prstGeom prst="rect">
            <a:avLst/>
          </a:prstGeom>
          <a:noFill/>
        </p:spPr>
        <p:txBody>
          <a:bodyPr wrap="square">
            <a:spAutoFit/>
          </a:bodyPr>
          <a:lstStyle/>
          <a:p>
            <a:pPr algn="ctr"/>
            <a:r>
              <a:rPr sz="1100" b="1">
                <a:solidFill>
                  <a:srgbClr val="232B36"/>
                </a:solidFill>
                <a:latin typeface="Aptos"/>
              </a:rPr>
              <a:t>Key principle: incident count answers “how much”; risk tier answers “how serious”; together they support prioritization.</a:t>
            </a:r>
          </a:p>
        </p:txBody>
      </p:sp>
      <p:sp>
        <p:nvSpPr>
          <p:cNvPr id="72" name="TextBox 71"/>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73" name="TextBox 72"/>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5. HOW are we responding?</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Response performance and SLA monitoring</a:t>
            </a:r>
          </a:p>
        </p:txBody>
      </p:sp>
      <p:sp>
        <p:nvSpPr>
          <p:cNvPr id="5" name="Rounded Rectangle 4"/>
          <p:cNvSpPr/>
          <p:nvPr/>
        </p:nvSpPr>
        <p:spPr>
          <a:xfrm>
            <a:off x="640080" y="1234440"/>
            <a:ext cx="251460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64008"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362456"/>
            <a:ext cx="2148840" cy="274320"/>
          </a:xfrm>
          <a:prstGeom prst="rect">
            <a:avLst/>
          </a:prstGeom>
          <a:noFill/>
        </p:spPr>
        <p:txBody>
          <a:bodyPr wrap="square">
            <a:spAutoFit/>
          </a:bodyPr>
          <a:lstStyle/>
          <a:p>
            <a:pPr algn="l"/>
            <a:r>
              <a:rPr sz="1000" b="1">
                <a:solidFill>
                  <a:srgbClr val="67717D"/>
                </a:solidFill>
                <a:latin typeface="Aptos"/>
              </a:rPr>
              <a:t>AVG RESPONSE TIME</a:t>
            </a:r>
          </a:p>
        </p:txBody>
      </p:sp>
      <p:sp>
        <p:nvSpPr>
          <p:cNvPr id="8" name="TextBox 7"/>
          <p:cNvSpPr txBox="1"/>
          <p:nvPr/>
        </p:nvSpPr>
        <p:spPr>
          <a:xfrm>
            <a:off x="841247" y="1673352"/>
            <a:ext cx="2148840" cy="384048"/>
          </a:xfrm>
          <a:prstGeom prst="rect">
            <a:avLst/>
          </a:prstGeom>
          <a:noFill/>
        </p:spPr>
        <p:txBody>
          <a:bodyPr wrap="square">
            <a:spAutoFit/>
          </a:bodyPr>
          <a:lstStyle/>
          <a:p>
            <a:pPr algn="l"/>
            <a:r>
              <a:rPr sz="2300" b="1">
                <a:solidFill>
                  <a:srgbClr val="0A1830"/>
                </a:solidFill>
                <a:latin typeface="Aptos"/>
              </a:rPr>
              <a:t>10.79</a:t>
            </a:r>
          </a:p>
        </p:txBody>
      </p:sp>
      <p:sp>
        <p:nvSpPr>
          <p:cNvPr id="9" name="TextBox 8"/>
          <p:cNvSpPr txBox="1"/>
          <p:nvPr/>
        </p:nvSpPr>
        <p:spPr>
          <a:xfrm>
            <a:off x="841247" y="2148840"/>
            <a:ext cx="2148840" cy="411479"/>
          </a:xfrm>
          <a:prstGeom prst="rect">
            <a:avLst/>
          </a:prstGeom>
          <a:noFill/>
        </p:spPr>
        <p:txBody>
          <a:bodyPr wrap="square">
            <a:spAutoFit/>
          </a:bodyPr>
          <a:lstStyle/>
          <a:p>
            <a:pPr algn="l"/>
            <a:r>
              <a:rPr sz="1100" b="0">
                <a:solidFill>
                  <a:srgbClr val="232B36"/>
                </a:solidFill>
                <a:latin typeface="Aptos"/>
              </a:rPr>
              <a:t>Displayed dashboard KPI; validate source timestamps and definition.</a:t>
            </a:r>
          </a:p>
        </p:txBody>
      </p:sp>
      <p:sp>
        <p:nvSpPr>
          <p:cNvPr id="10" name="Rounded Rectangle 9"/>
          <p:cNvSpPr/>
          <p:nvPr/>
        </p:nvSpPr>
        <p:spPr>
          <a:xfrm>
            <a:off x="3383280" y="1234440"/>
            <a:ext cx="251460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83280" y="1234440"/>
            <a:ext cx="64008" cy="1417320"/>
          </a:xfrm>
          <a:prstGeom prst="rect">
            <a:avLst/>
          </a:prstGeom>
          <a:solidFill>
            <a:srgbClr val="23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84448" y="1362456"/>
            <a:ext cx="2148840" cy="274320"/>
          </a:xfrm>
          <a:prstGeom prst="rect">
            <a:avLst/>
          </a:prstGeom>
          <a:noFill/>
        </p:spPr>
        <p:txBody>
          <a:bodyPr wrap="square">
            <a:spAutoFit/>
          </a:bodyPr>
          <a:lstStyle/>
          <a:p>
            <a:pPr algn="l"/>
            <a:r>
              <a:rPr sz="1000" b="1">
                <a:solidFill>
                  <a:srgbClr val="67717D"/>
                </a:solidFill>
                <a:latin typeface="Aptos"/>
              </a:rPr>
              <a:t>SLA MET</a:t>
            </a:r>
          </a:p>
        </p:txBody>
      </p:sp>
      <p:sp>
        <p:nvSpPr>
          <p:cNvPr id="13" name="TextBox 12"/>
          <p:cNvSpPr txBox="1"/>
          <p:nvPr/>
        </p:nvSpPr>
        <p:spPr>
          <a:xfrm>
            <a:off x="3584448" y="1673352"/>
            <a:ext cx="2148840" cy="384048"/>
          </a:xfrm>
          <a:prstGeom prst="rect">
            <a:avLst/>
          </a:prstGeom>
          <a:noFill/>
        </p:spPr>
        <p:txBody>
          <a:bodyPr wrap="square">
            <a:spAutoFit/>
          </a:bodyPr>
          <a:lstStyle/>
          <a:p>
            <a:pPr algn="l"/>
            <a:r>
              <a:rPr sz="2300" b="1">
                <a:solidFill>
                  <a:srgbClr val="0A1830"/>
                </a:solidFill>
                <a:latin typeface="Aptos"/>
              </a:rPr>
              <a:t>0.88</a:t>
            </a:r>
          </a:p>
        </p:txBody>
      </p:sp>
      <p:sp>
        <p:nvSpPr>
          <p:cNvPr id="14" name="TextBox 13"/>
          <p:cNvSpPr txBox="1"/>
          <p:nvPr/>
        </p:nvSpPr>
        <p:spPr>
          <a:xfrm>
            <a:off x="3584448" y="2148840"/>
            <a:ext cx="2148840" cy="411479"/>
          </a:xfrm>
          <a:prstGeom prst="rect">
            <a:avLst/>
          </a:prstGeom>
          <a:noFill/>
        </p:spPr>
        <p:txBody>
          <a:bodyPr wrap="square">
            <a:spAutoFit/>
          </a:bodyPr>
          <a:lstStyle/>
          <a:p>
            <a:pPr algn="l"/>
            <a:r>
              <a:rPr sz="1100" b="0">
                <a:solidFill>
                  <a:srgbClr val="232B36"/>
                </a:solidFill>
                <a:latin typeface="Aptos"/>
              </a:rPr>
              <a:t>Displayed KPI; label as 88% only after confirming measure format.</a:t>
            </a:r>
          </a:p>
        </p:txBody>
      </p:sp>
      <p:sp>
        <p:nvSpPr>
          <p:cNvPr id="15" name="Rounded Rectangle 14"/>
          <p:cNvSpPr/>
          <p:nvPr/>
        </p:nvSpPr>
        <p:spPr>
          <a:xfrm>
            <a:off x="6126480" y="1234440"/>
            <a:ext cx="2514600" cy="14173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26480" y="1234440"/>
            <a:ext cx="64008" cy="1417320"/>
          </a:xfrm>
          <a:prstGeom prst="rect">
            <a:avLst/>
          </a:prstGeom>
          <a:solidFill>
            <a:srgbClr val="EE7E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7648" y="1362456"/>
            <a:ext cx="2148840" cy="274320"/>
          </a:xfrm>
          <a:prstGeom prst="rect">
            <a:avLst/>
          </a:prstGeom>
          <a:noFill/>
        </p:spPr>
        <p:txBody>
          <a:bodyPr wrap="square">
            <a:spAutoFit/>
          </a:bodyPr>
          <a:lstStyle/>
          <a:p>
            <a:pPr algn="l"/>
            <a:r>
              <a:rPr sz="1000" b="1">
                <a:solidFill>
                  <a:srgbClr val="67717D"/>
                </a:solidFill>
                <a:latin typeface="Aptos"/>
              </a:rPr>
              <a:t>ESCALATION RATE</a:t>
            </a:r>
          </a:p>
        </p:txBody>
      </p:sp>
      <p:sp>
        <p:nvSpPr>
          <p:cNvPr id="18" name="TextBox 17"/>
          <p:cNvSpPr txBox="1"/>
          <p:nvPr/>
        </p:nvSpPr>
        <p:spPr>
          <a:xfrm>
            <a:off x="6327648" y="1673352"/>
            <a:ext cx="2148840" cy="384048"/>
          </a:xfrm>
          <a:prstGeom prst="rect">
            <a:avLst/>
          </a:prstGeom>
          <a:noFill/>
        </p:spPr>
        <p:txBody>
          <a:bodyPr wrap="square">
            <a:spAutoFit/>
          </a:bodyPr>
          <a:lstStyle/>
          <a:p>
            <a:pPr algn="l"/>
            <a:r>
              <a:rPr sz="2300" b="1">
                <a:solidFill>
                  <a:srgbClr val="0A1830"/>
                </a:solidFill>
                <a:latin typeface="Aptos"/>
              </a:rPr>
              <a:t>~9–12%</a:t>
            </a:r>
          </a:p>
        </p:txBody>
      </p:sp>
      <p:sp>
        <p:nvSpPr>
          <p:cNvPr id="19" name="TextBox 18"/>
          <p:cNvSpPr txBox="1"/>
          <p:nvPr/>
        </p:nvSpPr>
        <p:spPr>
          <a:xfrm>
            <a:off x="6327648" y="2148840"/>
            <a:ext cx="2148840" cy="411479"/>
          </a:xfrm>
          <a:prstGeom prst="rect">
            <a:avLst/>
          </a:prstGeom>
          <a:noFill/>
        </p:spPr>
        <p:txBody>
          <a:bodyPr wrap="square">
            <a:spAutoFit/>
          </a:bodyPr>
          <a:lstStyle/>
          <a:p>
            <a:pPr algn="l"/>
            <a:r>
              <a:rPr sz="1100" b="0">
                <a:solidFill>
                  <a:srgbClr val="232B36"/>
                </a:solidFill>
                <a:latin typeface="Aptos"/>
              </a:rPr>
              <a:t>Displayed zone-wise escalation chart.</a:t>
            </a:r>
          </a:p>
        </p:txBody>
      </p:sp>
      <p:sp>
        <p:nvSpPr>
          <p:cNvPr id="25" name="TextBox 24"/>
          <p:cNvSpPr txBox="1"/>
          <p:nvPr/>
        </p:nvSpPr>
        <p:spPr>
          <a:xfrm>
            <a:off x="685800" y="3063240"/>
            <a:ext cx="3108960" cy="274320"/>
          </a:xfrm>
          <a:prstGeom prst="rect">
            <a:avLst/>
          </a:prstGeom>
          <a:noFill/>
        </p:spPr>
        <p:txBody>
          <a:bodyPr wrap="square">
            <a:spAutoFit/>
          </a:bodyPr>
          <a:lstStyle/>
          <a:p>
            <a:pPr algn="l"/>
            <a:r>
              <a:rPr sz="1500" b="1">
                <a:solidFill>
                  <a:srgbClr val="0A1830"/>
                </a:solidFill>
                <a:latin typeface="Aptos"/>
              </a:rPr>
              <a:t>Response performance measures</a:t>
            </a:r>
          </a:p>
        </p:txBody>
      </p:sp>
      <p:sp>
        <p:nvSpPr>
          <p:cNvPr id="26" name="TextBox 25"/>
          <p:cNvSpPr txBox="1"/>
          <p:nvPr/>
        </p:nvSpPr>
        <p:spPr>
          <a:xfrm>
            <a:off x="685800" y="3474720"/>
            <a:ext cx="5029200" cy="2468880"/>
          </a:xfrm>
          <a:prstGeom prst="rect">
            <a:avLst/>
          </a:prstGeom>
          <a:noFill/>
        </p:spPr>
        <p:txBody>
          <a:bodyPr wrap="square">
            <a:spAutoFit/>
          </a:bodyPr>
          <a:lstStyle/>
          <a:p>
            <a:pPr>
              <a:spcAft>
                <a:spcPts val="800"/>
              </a:spcAft>
              <a:defRPr sz="1500">
                <a:solidFill>
                  <a:srgbClr val="232B36"/>
                </a:solidFill>
                <a:latin typeface="Aptos"/>
              </a:defRPr>
            </a:pPr>
            <a:r>
              <a:t>• Average response time by zone</a:t>
            </a:r>
          </a:p>
          <a:p>
            <a:pPr>
              <a:spcAft>
                <a:spcPts val="800"/>
              </a:spcAft>
              <a:defRPr sz="1500">
                <a:solidFill>
                  <a:srgbClr val="232B36"/>
                </a:solidFill>
                <a:latin typeface="Aptos"/>
              </a:defRPr>
            </a:pPr>
            <a:r>
              <a:t>• SLA compliance / SLA breach count</a:t>
            </a:r>
          </a:p>
          <a:p>
            <a:pPr>
              <a:spcAft>
                <a:spcPts val="800"/>
              </a:spcAft>
              <a:defRPr sz="1500">
                <a:solidFill>
                  <a:srgbClr val="232B36"/>
                </a:solidFill>
                <a:latin typeface="Aptos"/>
              </a:defRPr>
            </a:pPr>
            <a:r>
              <a:t>• Escalation rate by zone</a:t>
            </a:r>
          </a:p>
          <a:p>
            <a:pPr>
              <a:spcAft>
                <a:spcPts val="800"/>
              </a:spcAft>
              <a:defRPr sz="1500">
                <a:solidFill>
                  <a:srgbClr val="232B36"/>
                </a:solidFill>
                <a:latin typeface="Aptos"/>
              </a:defRPr>
            </a:pPr>
            <a:r>
              <a:t>• Incidents handled per resource/team</a:t>
            </a:r>
          </a:p>
          <a:p>
            <a:pPr>
              <a:spcAft>
                <a:spcPts val="800"/>
              </a:spcAft>
              <a:defRPr sz="1500">
                <a:solidFill>
                  <a:srgbClr val="232B36"/>
                </a:solidFill>
                <a:latin typeface="Aptos"/>
              </a:defRPr>
            </a:pPr>
            <a:r>
              <a:t>• Unresolved or delayed incidents</a:t>
            </a:r>
          </a:p>
        </p:txBody>
      </p:sp>
      <p:sp>
        <p:nvSpPr>
          <p:cNvPr id="27" name="TextBox 26"/>
          <p:cNvSpPr txBox="1"/>
          <p:nvPr/>
        </p:nvSpPr>
        <p:spPr>
          <a:xfrm>
            <a:off x="6126480" y="3063240"/>
            <a:ext cx="1828800" cy="274320"/>
          </a:xfrm>
          <a:prstGeom prst="rect">
            <a:avLst/>
          </a:prstGeom>
          <a:noFill/>
        </p:spPr>
        <p:txBody>
          <a:bodyPr wrap="square">
            <a:spAutoFit/>
          </a:bodyPr>
          <a:lstStyle/>
          <a:p>
            <a:pPr algn="l"/>
            <a:r>
              <a:rPr sz="1500" b="1">
                <a:solidFill>
                  <a:srgbClr val="0A1830"/>
                </a:solidFill>
                <a:latin typeface="Aptos"/>
              </a:rPr>
              <a:t>SLA formula</a:t>
            </a:r>
          </a:p>
        </p:txBody>
      </p:sp>
      <p:sp>
        <p:nvSpPr>
          <p:cNvPr id="28" name="TextBox 27"/>
          <p:cNvSpPr txBox="1"/>
          <p:nvPr/>
        </p:nvSpPr>
        <p:spPr>
          <a:xfrm>
            <a:off x="6126480" y="3520440"/>
            <a:ext cx="4846320" cy="777240"/>
          </a:xfrm>
          <a:prstGeom prst="rect">
            <a:avLst/>
          </a:prstGeom>
          <a:noFill/>
        </p:spPr>
        <p:txBody>
          <a:bodyPr wrap="square">
            <a:spAutoFit/>
          </a:bodyPr>
          <a:lstStyle/>
          <a:p>
            <a:pPr algn="ctr"/>
            <a:r>
              <a:rPr sz="1900" b="1">
                <a:solidFill>
                  <a:srgbClr val="0A1830"/>
                </a:solidFill>
                <a:latin typeface="Aptos"/>
              </a:rPr>
              <a:t>SLA % = Incidents meeting SLA ÷ Total applicable incidents × 100</a:t>
            </a:r>
          </a:p>
        </p:txBody>
      </p:sp>
      <p:sp>
        <p:nvSpPr>
          <p:cNvPr id="29" name="TextBox 28"/>
          <p:cNvSpPr txBox="1"/>
          <p:nvPr/>
        </p:nvSpPr>
        <p:spPr>
          <a:xfrm>
            <a:off x="6400800" y="4434840"/>
            <a:ext cx="4297680" cy="365760"/>
          </a:xfrm>
          <a:prstGeom prst="rect">
            <a:avLst/>
          </a:prstGeom>
          <a:noFill/>
        </p:spPr>
        <p:txBody>
          <a:bodyPr wrap="square">
            <a:spAutoFit/>
          </a:bodyPr>
          <a:lstStyle/>
          <a:p>
            <a:pPr algn="ctr"/>
            <a:r>
              <a:rPr sz="1400" b="0">
                <a:solidFill>
                  <a:srgbClr val="67717D"/>
                </a:solidFill>
                <a:latin typeface="Aptos"/>
              </a:rPr>
              <a:t>Example: 90 / 100 × 100 = 90%</a:t>
            </a:r>
          </a:p>
        </p:txBody>
      </p:sp>
      <p:sp>
        <p:nvSpPr>
          <p:cNvPr id="30" name="TextBox 29"/>
          <p:cNvSpPr txBox="1"/>
          <p:nvPr/>
        </p:nvSpPr>
        <p:spPr>
          <a:xfrm>
            <a:off x="6126480" y="5074920"/>
            <a:ext cx="4846320" cy="822960"/>
          </a:xfrm>
          <a:prstGeom prst="rect">
            <a:avLst/>
          </a:prstGeom>
          <a:noFill/>
        </p:spPr>
        <p:txBody>
          <a:bodyPr wrap="square">
            <a:spAutoFit/>
          </a:bodyPr>
          <a:lstStyle/>
          <a:p>
            <a:pPr algn="l"/>
            <a:r>
              <a:rPr sz="1300" b="1">
                <a:solidFill>
                  <a:srgbClr val="D23A41"/>
                </a:solidFill>
                <a:latin typeface="Aptos"/>
              </a:rPr>
              <a:t>Define response time consistently: detection/report time → response start time. Do not mix response time with resolution time.</a:t>
            </a:r>
          </a:p>
        </p:txBody>
      </p:sp>
      <p:sp>
        <p:nvSpPr>
          <p:cNvPr id="31" name="TextBox 30"/>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32" name="TextBox 31"/>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905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6. ARE resources deployed efficiently?</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Risk-to-resource matching</a:t>
            </a:r>
          </a:p>
        </p:txBody>
      </p:sp>
      <p:sp>
        <p:nvSpPr>
          <p:cNvPr id="5" name="Rounded Rectangle 4"/>
          <p:cNvSpPr/>
          <p:nvPr/>
        </p:nvSpPr>
        <p:spPr>
          <a:xfrm>
            <a:off x="640080" y="1234440"/>
            <a:ext cx="3383280" cy="12801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64008" cy="1280160"/>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362456"/>
            <a:ext cx="3017520" cy="274320"/>
          </a:xfrm>
          <a:prstGeom prst="rect">
            <a:avLst/>
          </a:prstGeom>
          <a:noFill/>
        </p:spPr>
        <p:txBody>
          <a:bodyPr wrap="square">
            <a:spAutoFit/>
          </a:bodyPr>
          <a:lstStyle/>
          <a:p>
            <a:pPr algn="l"/>
            <a:r>
              <a:rPr sz="1000" b="1">
                <a:solidFill>
                  <a:srgbClr val="67717D"/>
                </a:solidFill>
                <a:latin typeface="Aptos"/>
              </a:rPr>
              <a:t>RESOURCE–RISK MATCH</a:t>
            </a:r>
          </a:p>
        </p:txBody>
      </p:sp>
      <p:sp>
        <p:nvSpPr>
          <p:cNvPr id="8" name="TextBox 7"/>
          <p:cNvSpPr txBox="1"/>
          <p:nvPr/>
        </p:nvSpPr>
        <p:spPr>
          <a:xfrm>
            <a:off x="841247" y="1490472"/>
            <a:ext cx="3017520" cy="384048"/>
          </a:xfrm>
          <a:prstGeom prst="rect">
            <a:avLst/>
          </a:prstGeom>
          <a:noFill/>
        </p:spPr>
        <p:txBody>
          <a:bodyPr wrap="square">
            <a:spAutoFit/>
          </a:bodyPr>
          <a:lstStyle/>
          <a:p>
            <a:pPr algn="l"/>
            <a:r>
              <a:rPr sz="2300" b="1" dirty="0">
                <a:solidFill>
                  <a:srgbClr val="0A1830"/>
                </a:solidFill>
                <a:latin typeface="Aptos"/>
              </a:rPr>
              <a:t>High risk + few resources</a:t>
            </a:r>
          </a:p>
        </p:txBody>
      </p:sp>
      <p:sp>
        <p:nvSpPr>
          <p:cNvPr id="9" name="TextBox 8"/>
          <p:cNvSpPr txBox="1"/>
          <p:nvPr/>
        </p:nvSpPr>
        <p:spPr>
          <a:xfrm>
            <a:off x="841247" y="2148840"/>
            <a:ext cx="3017520" cy="274319"/>
          </a:xfrm>
          <a:prstGeom prst="rect">
            <a:avLst/>
          </a:prstGeom>
          <a:noFill/>
        </p:spPr>
        <p:txBody>
          <a:bodyPr wrap="square">
            <a:spAutoFit/>
          </a:bodyPr>
          <a:lstStyle/>
          <a:p>
            <a:pPr algn="l"/>
            <a:r>
              <a:rPr sz="1100" b="0">
                <a:solidFill>
                  <a:srgbClr val="232B36"/>
                </a:solidFill>
                <a:latin typeface="Aptos"/>
              </a:rPr>
              <a:t>Priority mismatch requiring attention.</a:t>
            </a:r>
          </a:p>
        </p:txBody>
      </p:sp>
      <p:sp>
        <p:nvSpPr>
          <p:cNvPr id="10" name="Rounded Rectangle 9"/>
          <p:cNvSpPr/>
          <p:nvPr/>
        </p:nvSpPr>
        <p:spPr>
          <a:xfrm>
            <a:off x="4206240" y="1234440"/>
            <a:ext cx="3383280" cy="12801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06240" y="1234440"/>
            <a:ext cx="64008" cy="12801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07407" y="1362456"/>
            <a:ext cx="3017520" cy="274320"/>
          </a:xfrm>
          <a:prstGeom prst="rect">
            <a:avLst/>
          </a:prstGeom>
          <a:noFill/>
        </p:spPr>
        <p:txBody>
          <a:bodyPr wrap="square">
            <a:spAutoFit/>
          </a:bodyPr>
          <a:lstStyle/>
          <a:p>
            <a:pPr algn="l"/>
            <a:r>
              <a:rPr sz="1000" b="1">
                <a:solidFill>
                  <a:srgbClr val="67717D"/>
                </a:solidFill>
                <a:latin typeface="Aptos"/>
              </a:rPr>
              <a:t>RESOURCE WORKLOAD</a:t>
            </a:r>
          </a:p>
        </p:txBody>
      </p:sp>
      <p:sp>
        <p:nvSpPr>
          <p:cNvPr id="13" name="TextBox 12"/>
          <p:cNvSpPr txBox="1"/>
          <p:nvPr/>
        </p:nvSpPr>
        <p:spPr>
          <a:xfrm>
            <a:off x="4407407" y="1673352"/>
            <a:ext cx="3017520" cy="384048"/>
          </a:xfrm>
          <a:prstGeom prst="rect">
            <a:avLst/>
          </a:prstGeom>
          <a:noFill/>
        </p:spPr>
        <p:txBody>
          <a:bodyPr wrap="square">
            <a:spAutoFit/>
          </a:bodyPr>
          <a:lstStyle/>
          <a:p>
            <a:pPr algn="l"/>
            <a:r>
              <a:rPr sz="2300" b="1">
                <a:solidFill>
                  <a:srgbClr val="0A1830"/>
                </a:solidFill>
                <a:latin typeface="Aptos"/>
              </a:rPr>
              <a:t>Incidents handled</a:t>
            </a:r>
          </a:p>
        </p:txBody>
      </p:sp>
      <p:sp>
        <p:nvSpPr>
          <p:cNvPr id="14" name="TextBox 13"/>
          <p:cNvSpPr txBox="1"/>
          <p:nvPr/>
        </p:nvSpPr>
        <p:spPr>
          <a:xfrm>
            <a:off x="4407407" y="2148840"/>
            <a:ext cx="3017520" cy="274319"/>
          </a:xfrm>
          <a:prstGeom prst="rect">
            <a:avLst/>
          </a:prstGeom>
          <a:noFill/>
        </p:spPr>
        <p:txBody>
          <a:bodyPr wrap="square">
            <a:spAutoFit/>
          </a:bodyPr>
          <a:lstStyle/>
          <a:p>
            <a:pPr algn="l"/>
            <a:r>
              <a:rPr sz="1100" b="0">
                <a:solidFill>
                  <a:srgbClr val="232B36"/>
                </a:solidFill>
                <a:latin typeface="Aptos"/>
              </a:rPr>
              <a:t>Measure workload per team/resource.</a:t>
            </a:r>
          </a:p>
        </p:txBody>
      </p:sp>
      <p:sp>
        <p:nvSpPr>
          <p:cNvPr id="15" name="Rounded Rectangle 14"/>
          <p:cNvSpPr/>
          <p:nvPr/>
        </p:nvSpPr>
        <p:spPr>
          <a:xfrm>
            <a:off x="7772400" y="1234440"/>
            <a:ext cx="3383280" cy="128016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0" y="1234440"/>
            <a:ext cx="64008" cy="1280160"/>
          </a:xfrm>
          <a:prstGeom prst="rect">
            <a:avLst/>
          </a:prstGeom>
          <a:solidFill>
            <a:srgbClr val="23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73568" y="1362456"/>
            <a:ext cx="3017520" cy="274320"/>
          </a:xfrm>
          <a:prstGeom prst="rect">
            <a:avLst/>
          </a:prstGeom>
          <a:noFill/>
        </p:spPr>
        <p:txBody>
          <a:bodyPr wrap="square">
            <a:spAutoFit/>
          </a:bodyPr>
          <a:lstStyle/>
          <a:p>
            <a:pPr algn="l"/>
            <a:r>
              <a:rPr sz="1000" b="1">
                <a:solidFill>
                  <a:srgbClr val="67717D"/>
                </a:solidFill>
                <a:latin typeface="Aptos"/>
              </a:rPr>
              <a:t>RESOURCE PERFORMANCE</a:t>
            </a:r>
          </a:p>
        </p:txBody>
      </p:sp>
      <p:sp>
        <p:nvSpPr>
          <p:cNvPr id="18" name="TextBox 17"/>
          <p:cNvSpPr txBox="1"/>
          <p:nvPr/>
        </p:nvSpPr>
        <p:spPr>
          <a:xfrm>
            <a:off x="7973568" y="1673352"/>
            <a:ext cx="3017520" cy="384048"/>
          </a:xfrm>
          <a:prstGeom prst="rect">
            <a:avLst/>
          </a:prstGeom>
          <a:noFill/>
        </p:spPr>
        <p:txBody>
          <a:bodyPr wrap="square">
            <a:spAutoFit/>
          </a:bodyPr>
          <a:lstStyle/>
          <a:p>
            <a:pPr algn="l"/>
            <a:r>
              <a:rPr sz="2300" b="1">
                <a:solidFill>
                  <a:srgbClr val="0A1830"/>
                </a:solidFill>
                <a:latin typeface="Aptos"/>
              </a:rPr>
              <a:t>Response + SLA</a:t>
            </a:r>
          </a:p>
        </p:txBody>
      </p:sp>
      <p:sp>
        <p:nvSpPr>
          <p:cNvPr id="19" name="TextBox 18"/>
          <p:cNvSpPr txBox="1"/>
          <p:nvPr/>
        </p:nvSpPr>
        <p:spPr>
          <a:xfrm>
            <a:off x="7973568" y="2048256"/>
            <a:ext cx="3017520" cy="274319"/>
          </a:xfrm>
          <a:prstGeom prst="rect">
            <a:avLst/>
          </a:prstGeom>
          <a:noFill/>
        </p:spPr>
        <p:txBody>
          <a:bodyPr wrap="square">
            <a:spAutoFit/>
          </a:bodyPr>
          <a:lstStyle/>
          <a:p>
            <a:pPr algn="l"/>
            <a:r>
              <a:rPr sz="1100" b="0" dirty="0">
                <a:solidFill>
                  <a:srgbClr val="232B36"/>
                </a:solidFill>
                <a:latin typeface="Aptos"/>
              </a:rPr>
              <a:t>Evaluate whether deployed resources deliver timely outcomes.</a:t>
            </a:r>
          </a:p>
        </p:txBody>
      </p:sp>
      <p:sp>
        <p:nvSpPr>
          <p:cNvPr id="20" name="TextBox 19"/>
          <p:cNvSpPr txBox="1"/>
          <p:nvPr/>
        </p:nvSpPr>
        <p:spPr>
          <a:xfrm>
            <a:off x="685800" y="2880360"/>
            <a:ext cx="2743200" cy="274320"/>
          </a:xfrm>
          <a:prstGeom prst="rect">
            <a:avLst/>
          </a:prstGeom>
          <a:noFill/>
        </p:spPr>
        <p:txBody>
          <a:bodyPr wrap="square">
            <a:spAutoFit/>
          </a:bodyPr>
          <a:lstStyle/>
          <a:p>
            <a:pPr algn="l"/>
            <a:r>
              <a:rPr sz="1500" b="1">
                <a:solidFill>
                  <a:srgbClr val="0A1830"/>
                </a:solidFill>
                <a:latin typeface="Aptos"/>
              </a:rPr>
              <a:t>Deployment matrix</a:t>
            </a:r>
          </a:p>
        </p:txBody>
      </p:sp>
      <p:sp>
        <p:nvSpPr>
          <p:cNvPr id="21" name="Rounded Rectangle 20"/>
          <p:cNvSpPr/>
          <p:nvPr/>
        </p:nvSpPr>
        <p:spPr>
          <a:xfrm>
            <a:off x="685800" y="3273552"/>
            <a:ext cx="2103120" cy="5029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85800" y="3273552"/>
            <a:ext cx="64008" cy="50292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3401568"/>
            <a:ext cx="1737360" cy="274320"/>
          </a:xfrm>
          <a:prstGeom prst="rect">
            <a:avLst/>
          </a:prstGeom>
          <a:noFill/>
        </p:spPr>
        <p:txBody>
          <a:bodyPr wrap="square">
            <a:spAutoFit/>
          </a:bodyPr>
          <a:lstStyle/>
          <a:p>
            <a:pPr algn="l"/>
            <a:r>
              <a:rPr sz="1000" b="1">
                <a:solidFill>
                  <a:srgbClr val="67717D"/>
                </a:solidFill>
                <a:latin typeface="Aptos"/>
              </a:rPr>
              <a:t>Risk</a:t>
            </a:r>
          </a:p>
        </p:txBody>
      </p:sp>
      <p:sp>
        <p:nvSpPr>
          <p:cNvPr id="24" name="Rounded Rectangle 23"/>
          <p:cNvSpPr/>
          <p:nvPr/>
        </p:nvSpPr>
        <p:spPr>
          <a:xfrm>
            <a:off x="2926080" y="3273552"/>
            <a:ext cx="2103120" cy="5029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26080" y="3273552"/>
            <a:ext cx="64008" cy="50292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27248" y="3401568"/>
            <a:ext cx="1737360" cy="274320"/>
          </a:xfrm>
          <a:prstGeom prst="rect">
            <a:avLst/>
          </a:prstGeom>
          <a:noFill/>
        </p:spPr>
        <p:txBody>
          <a:bodyPr wrap="square">
            <a:spAutoFit/>
          </a:bodyPr>
          <a:lstStyle/>
          <a:p>
            <a:pPr algn="l"/>
            <a:r>
              <a:rPr sz="1000" b="1">
                <a:solidFill>
                  <a:srgbClr val="67717D"/>
                </a:solidFill>
                <a:latin typeface="Aptos"/>
              </a:rPr>
              <a:t>Resources</a:t>
            </a:r>
          </a:p>
        </p:txBody>
      </p:sp>
      <p:sp>
        <p:nvSpPr>
          <p:cNvPr id="27" name="Rounded Rectangle 26"/>
          <p:cNvSpPr/>
          <p:nvPr/>
        </p:nvSpPr>
        <p:spPr>
          <a:xfrm>
            <a:off x="5166360" y="3273552"/>
            <a:ext cx="2103120" cy="5029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166360" y="3273552"/>
            <a:ext cx="64008" cy="50292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67528" y="3401568"/>
            <a:ext cx="1737360" cy="274320"/>
          </a:xfrm>
          <a:prstGeom prst="rect">
            <a:avLst/>
          </a:prstGeom>
          <a:noFill/>
        </p:spPr>
        <p:txBody>
          <a:bodyPr wrap="square">
            <a:spAutoFit/>
          </a:bodyPr>
          <a:lstStyle/>
          <a:p>
            <a:pPr algn="l"/>
            <a:r>
              <a:rPr sz="1000" b="1">
                <a:solidFill>
                  <a:srgbClr val="67717D"/>
                </a:solidFill>
                <a:latin typeface="Aptos"/>
              </a:rPr>
              <a:t>Decision</a:t>
            </a:r>
          </a:p>
        </p:txBody>
      </p:sp>
      <p:sp>
        <p:nvSpPr>
          <p:cNvPr id="30" name="Rounded Rectangle 29"/>
          <p:cNvSpPr/>
          <p:nvPr/>
        </p:nvSpPr>
        <p:spPr>
          <a:xfrm>
            <a:off x="685800" y="3840480"/>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85800" y="3840480"/>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6968" y="3968496"/>
            <a:ext cx="1737360" cy="274320"/>
          </a:xfrm>
          <a:prstGeom prst="rect">
            <a:avLst/>
          </a:prstGeom>
          <a:noFill/>
        </p:spPr>
        <p:txBody>
          <a:bodyPr wrap="square">
            <a:spAutoFit/>
          </a:bodyPr>
          <a:lstStyle/>
          <a:p>
            <a:pPr algn="l"/>
            <a:r>
              <a:rPr sz="1000" b="1">
                <a:solidFill>
                  <a:srgbClr val="67717D"/>
                </a:solidFill>
                <a:latin typeface="Aptos"/>
              </a:rPr>
              <a:t>Low</a:t>
            </a:r>
          </a:p>
        </p:txBody>
      </p:sp>
      <p:sp>
        <p:nvSpPr>
          <p:cNvPr id="33" name="Rounded Rectangle 32"/>
          <p:cNvSpPr/>
          <p:nvPr/>
        </p:nvSpPr>
        <p:spPr>
          <a:xfrm>
            <a:off x="2926080" y="3840480"/>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926080" y="3840480"/>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27248" y="3968496"/>
            <a:ext cx="1737360" cy="274320"/>
          </a:xfrm>
          <a:prstGeom prst="rect">
            <a:avLst/>
          </a:prstGeom>
          <a:noFill/>
        </p:spPr>
        <p:txBody>
          <a:bodyPr wrap="square">
            <a:spAutoFit/>
          </a:bodyPr>
          <a:lstStyle/>
          <a:p>
            <a:pPr algn="l"/>
            <a:r>
              <a:rPr sz="1000" b="1">
                <a:solidFill>
                  <a:srgbClr val="67717D"/>
                </a:solidFill>
                <a:latin typeface="Aptos"/>
              </a:rPr>
              <a:t>High</a:t>
            </a:r>
          </a:p>
        </p:txBody>
      </p:sp>
      <p:sp>
        <p:nvSpPr>
          <p:cNvPr id="36" name="Rounded Rectangle 35"/>
          <p:cNvSpPr/>
          <p:nvPr/>
        </p:nvSpPr>
        <p:spPr>
          <a:xfrm>
            <a:off x="5166360" y="3840480"/>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166360" y="3840480"/>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67528" y="3968496"/>
            <a:ext cx="1737360" cy="274320"/>
          </a:xfrm>
          <a:prstGeom prst="rect">
            <a:avLst/>
          </a:prstGeom>
          <a:noFill/>
        </p:spPr>
        <p:txBody>
          <a:bodyPr wrap="square">
            <a:spAutoFit/>
          </a:bodyPr>
          <a:lstStyle/>
          <a:p>
            <a:pPr algn="l"/>
            <a:r>
              <a:rPr sz="1000" b="1">
                <a:solidFill>
                  <a:srgbClr val="67717D"/>
                </a:solidFill>
                <a:latin typeface="Aptos"/>
              </a:rPr>
              <a:t>Consider reallocation</a:t>
            </a:r>
          </a:p>
        </p:txBody>
      </p:sp>
      <p:sp>
        <p:nvSpPr>
          <p:cNvPr id="39" name="Rounded Rectangle 38"/>
          <p:cNvSpPr/>
          <p:nvPr/>
        </p:nvSpPr>
        <p:spPr>
          <a:xfrm>
            <a:off x="685800" y="4407408"/>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85800" y="4407408"/>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86968" y="4535424"/>
            <a:ext cx="1737360" cy="274320"/>
          </a:xfrm>
          <a:prstGeom prst="rect">
            <a:avLst/>
          </a:prstGeom>
          <a:noFill/>
        </p:spPr>
        <p:txBody>
          <a:bodyPr wrap="square">
            <a:spAutoFit/>
          </a:bodyPr>
          <a:lstStyle/>
          <a:p>
            <a:pPr algn="l"/>
            <a:r>
              <a:rPr sz="1000" b="1">
                <a:solidFill>
                  <a:srgbClr val="67717D"/>
                </a:solidFill>
                <a:latin typeface="Aptos"/>
              </a:rPr>
              <a:t>Medium</a:t>
            </a:r>
          </a:p>
        </p:txBody>
      </p:sp>
      <p:sp>
        <p:nvSpPr>
          <p:cNvPr id="42" name="Rounded Rectangle 41"/>
          <p:cNvSpPr/>
          <p:nvPr/>
        </p:nvSpPr>
        <p:spPr>
          <a:xfrm>
            <a:off x="2926080" y="4407408"/>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926080" y="4407408"/>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127248" y="4535424"/>
            <a:ext cx="1737360" cy="274320"/>
          </a:xfrm>
          <a:prstGeom prst="rect">
            <a:avLst/>
          </a:prstGeom>
          <a:noFill/>
        </p:spPr>
        <p:txBody>
          <a:bodyPr wrap="square">
            <a:spAutoFit/>
          </a:bodyPr>
          <a:lstStyle/>
          <a:p>
            <a:pPr algn="l"/>
            <a:r>
              <a:rPr sz="1000" b="1">
                <a:solidFill>
                  <a:srgbClr val="67717D"/>
                </a:solidFill>
                <a:latin typeface="Aptos"/>
              </a:rPr>
              <a:t>Adequate</a:t>
            </a:r>
          </a:p>
        </p:txBody>
      </p:sp>
      <p:sp>
        <p:nvSpPr>
          <p:cNvPr id="45" name="Rounded Rectangle 44"/>
          <p:cNvSpPr/>
          <p:nvPr/>
        </p:nvSpPr>
        <p:spPr>
          <a:xfrm>
            <a:off x="5166360" y="4407408"/>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166360" y="4407408"/>
            <a:ext cx="64008" cy="47548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367528" y="4535424"/>
            <a:ext cx="1737360" cy="274320"/>
          </a:xfrm>
          <a:prstGeom prst="rect">
            <a:avLst/>
          </a:prstGeom>
          <a:noFill/>
        </p:spPr>
        <p:txBody>
          <a:bodyPr wrap="square">
            <a:spAutoFit/>
          </a:bodyPr>
          <a:lstStyle/>
          <a:p>
            <a:pPr algn="l"/>
            <a:r>
              <a:rPr sz="1000" b="1">
                <a:solidFill>
                  <a:srgbClr val="67717D"/>
                </a:solidFill>
                <a:latin typeface="Aptos"/>
              </a:rPr>
              <a:t>Maintain / monitor</a:t>
            </a:r>
          </a:p>
        </p:txBody>
      </p:sp>
      <p:sp>
        <p:nvSpPr>
          <p:cNvPr id="48" name="Rounded Rectangle 47"/>
          <p:cNvSpPr/>
          <p:nvPr/>
        </p:nvSpPr>
        <p:spPr>
          <a:xfrm>
            <a:off x="685800" y="4974336"/>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85800" y="4974336"/>
            <a:ext cx="64008" cy="475488"/>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86968" y="5102352"/>
            <a:ext cx="1737360" cy="274320"/>
          </a:xfrm>
          <a:prstGeom prst="rect">
            <a:avLst/>
          </a:prstGeom>
          <a:noFill/>
        </p:spPr>
        <p:txBody>
          <a:bodyPr wrap="square">
            <a:spAutoFit/>
          </a:bodyPr>
          <a:lstStyle/>
          <a:p>
            <a:pPr algn="l"/>
            <a:r>
              <a:rPr sz="1000" b="1">
                <a:solidFill>
                  <a:srgbClr val="67717D"/>
                </a:solidFill>
                <a:latin typeface="Aptos"/>
              </a:rPr>
              <a:t>High</a:t>
            </a:r>
          </a:p>
        </p:txBody>
      </p:sp>
      <p:sp>
        <p:nvSpPr>
          <p:cNvPr id="51" name="Rounded Rectangle 50"/>
          <p:cNvSpPr/>
          <p:nvPr/>
        </p:nvSpPr>
        <p:spPr>
          <a:xfrm>
            <a:off x="2926080" y="4974336"/>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926080" y="4974336"/>
            <a:ext cx="64008" cy="475488"/>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127248" y="5102352"/>
            <a:ext cx="1737360" cy="274320"/>
          </a:xfrm>
          <a:prstGeom prst="rect">
            <a:avLst/>
          </a:prstGeom>
          <a:noFill/>
        </p:spPr>
        <p:txBody>
          <a:bodyPr wrap="square">
            <a:spAutoFit/>
          </a:bodyPr>
          <a:lstStyle/>
          <a:p>
            <a:pPr algn="l"/>
            <a:r>
              <a:rPr sz="1000" b="1">
                <a:solidFill>
                  <a:srgbClr val="67717D"/>
                </a:solidFill>
                <a:latin typeface="Aptos"/>
              </a:rPr>
              <a:t>Low</a:t>
            </a:r>
          </a:p>
        </p:txBody>
      </p:sp>
      <p:sp>
        <p:nvSpPr>
          <p:cNvPr id="54" name="Rounded Rectangle 53"/>
          <p:cNvSpPr/>
          <p:nvPr/>
        </p:nvSpPr>
        <p:spPr>
          <a:xfrm>
            <a:off x="5166360" y="4974336"/>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166360" y="4974336"/>
            <a:ext cx="64008" cy="475488"/>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367528" y="5102352"/>
            <a:ext cx="1737360" cy="274320"/>
          </a:xfrm>
          <a:prstGeom prst="rect">
            <a:avLst/>
          </a:prstGeom>
          <a:noFill/>
        </p:spPr>
        <p:txBody>
          <a:bodyPr wrap="square">
            <a:spAutoFit/>
          </a:bodyPr>
          <a:lstStyle/>
          <a:p>
            <a:pPr algn="l"/>
            <a:r>
              <a:rPr sz="1000" b="1">
                <a:solidFill>
                  <a:srgbClr val="67717D"/>
                </a:solidFill>
                <a:latin typeface="Aptos"/>
              </a:rPr>
              <a:t>Increase priority resources</a:t>
            </a:r>
          </a:p>
        </p:txBody>
      </p:sp>
      <p:sp>
        <p:nvSpPr>
          <p:cNvPr id="57" name="Rounded Rectangle 56"/>
          <p:cNvSpPr/>
          <p:nvPr/>
        </p:nvSpPr>
        <p:spPr>
          <a:xfrm>
            <a:off x="685800" y="5541264"/>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685800" y="5541264"/>
            <a:ext cx="64008" cy="475488"/>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6968" y="5669280"/>
            <a:ext cx="1737360" cy="274320"/>
          </a:xfrm>
          <a:prstGeom prst="rect">
            <a:avLst/>
          </a:prstGeom>
          <a:noFill/>
        </p:spPr>
        <p:txBody>
          <a:bodyPr wrap="square">
            <a:spAutoFit/>
          </a:bodyPr>
          <a:lstStyle/>
          <a:p>
            <a:pPr algn="l"/>
            <a:r>
              <a:rPr sz="1000" b="1">
                <a:solidFill>
                  <a:srgbClr val="67717D"/>
                </a:solidFill>
                <a:latin typeface="Aptos"/>
              </a:rPr>
              <a:t>Very High</a:t>
            </a:r>
          </a:p>
        </p:txBody>
      </p:sp>
      <p:sp>
        <p:nvSpPr>
          <p:cNvPr id="60" name="Rounded Rectangle 59"/>
          <p:cNvSpPr/>
          <p:nvPr/>
        </p:nvSpPr>
        <p:spPr>
          <a:xfrm>
            <a:off x="2926080" y="5541264"/>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2926080" y="5541264"/>
            <a:ext cx="64008" cy="475488"/>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127248" y="5669280"/>
            <a:ext cx="1737360" cy="274320"/>
          </a:xfrm>
          <a:prstGeom prst="rect">
            <a:avLst/>
          </a:prstGeom>
          <a:noFill/>
        </p:spPr>
        <p:txBody>
          <a:bodyPr wrap="square">
            <a:spAutoFit/>
          </a:bodyPr>
          <a:lstStyle/>
          <a:p>
            <a:pPr algn="l"/>
            <a:r>
              <a:rPr sz="1000" b="1">
                <a:solidFill>
                  <a:srgbClr val="67717D"/>
                </a:solidFill>
                <a:latin typeface="Aptos"/>
              </a:rPr>
              <a:t>Low</a:t>
            </a:r>
          </a:p>
        </p:txBody>
      </p:sp>
      <p:sp>
        <p:nvSpPr>
          <p:cNvPr id="63" name="Rounded Rectangle 62"/>
          <p:cNvSpPr/>
          <p:nvPr/>
        </p:nvSpPr>
        <p:spPr>
          <a:xfrm>
            <a:off x="5166360" y="5541264"/>
            <a:ext cx="2103120" cy="475488"/>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5166360" y="5541264"/>
            <a:ext cx="64008" cy="475488"/>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367528" y="5669280"/>
            <a:ext cx="1737360" cy="274320"/>
          </a:xfrm>
          <a:prstGeom prst="rect">
            <a:avLst/>
          </a:prstGeom>
          <a:noFill/>
        </p:spPr>
        <p:txBody>
          <a:bodyPr wrap="square">
            <a:spAutoFit/>
          </a:bodyPr>
          <a:lstStyle/>
          <a:p>
            <a:pPr algn="l"/>
            <a:r>
              <a:rPr sz="1000" b="1">
                <a:solidFill>
                  <a:srgbClr val="67717D"/>
                </a:solidFill>
                <a:latin typeface="Aptos"/>
              </a:rPr>
              <a:t>Immediate resource priority</a:t>
            </a:r>
          </a:p>
        </p:txBody>
      </p:sp>
      <p:sp>
        <p:nvSpPr>
          <p:cNvPr id="66" name="TextBox 65"/>
          <p:cNvSpPr txBox="1"/>
          <p:nvPr/>
        </p:nvSpPr>
        <p:spPr>
          <a:xfrm>
            <a:off x="685800" y="6144768"/>
            <a:ext cx="10789920" cy="261610"/>
          </a:xfrm>
          <a:prstGeom prst="rect">
            <a:avLst/>
          </a:prstGeom>
          <a:noFill/>
        </p:spPr>
        <p:txBody>
          <a:bodyPr wrap="square">
            <a:spAutoFit/>
          </a:bodyPr>
          <a:lstStyle/>
          <a:p>
            <a:pPr algn="ctr"/>
            <a:r>
              <a:rPr sz="1100" b="1" dirty="0">
                <a:solidFill>
                  <a:srgbClr val="67717D"/>
                </a:solidFill>
                <a:latin typeface="Aptos"/>
              </a:rPr>
              <a:t>The dashboard displays “8 Units Deployed”; validate the underlying resource data before treating this as an operationally accurate count.</a:t>
            </a:r>
          </a:p>
        </p:txBody>
      </p:sp>
      <p:sp>
        <p:nvSpPr>
          <p:cNvPr id="67" name="TextBox 66"/>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68" name="TextBox 67"/>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7. Resource Performance — How is each resource handling incidents?</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Evaluate workload and outcomes, not just the number of units</a:t>
            </a:r>
          </a:p>
        </p:txBody>
      </p:sp>
      <p:sp>
        <p:nvSpPr>
          <p:cNvPr id="5" name="Rounded Rectangle 4"/>
          <p:cNvSpPr/>
          <p:nvPr/>
        </p:nvSpPr>
        <p:spPr>
          <a:xfrm>
            <a:off x="777240" y="1234440"/>
            <a:ext cx="10698480" cy="71323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234440"/>
            <a:ext cx="64008" cy="7132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1362456"/>
            <a:ext cx="10332719" cy="274320"/>
          </a:xfrm>
          <a:prstGeom prst="rect">
            <a:avLst/>
          </a:prstGeom>
          <a:noFill/>
        </p:spPr>
        <p:txBody>
          <a:bodyPr wrap="square">
            <a:spAutoFit/>
          </a:bodyPr>
          <a:lstStyle/>
          <a:p>
            <a:pPr algn="l"/>
            <a:r>
              <a:rPr sz="1000" b="1">
                <a:solidFill>
                  <a:srgbClr val="67717D"/>
                </a:solidFill>
                <a:latin typeface="Aptos"/>
              </a:rPr>
              <a:t>Workload</a:t>
            </a:r>
          </a:p>
        </p:txBody>
      </p:sp>
      <p:sp>
        <p:nvSpPr>
          <p:cNvPr id="8" name="TextBox 7"/>
          <p:cNvSpPr txBox="1"/>
          <p:nvPr/>
        </p:nvSpPr>
        <p:spPr>
          <a:xfrm>
            <a:off x="978408" y="1673352"/>
            <a:ext cx="10332719" cy="164592"/>
          </a:xfrm>
          <a:prstGeom prst="rect">
            <a:avLst/>
          </a:prstGeom>
          <a:noFill/>
        </p:spPr>
        <p:txBody>
          <a:bodyPr wrap="square">
            <a:spAutoFit/>
          </a:bodyPr>
          <a:lstStyle/>
          <a:p>
            <a:pPr algn="l"/>
            <a:r>
              <a:rPr sz="1100" b="0">
                <a:solidFill>
                  <a:srgbClr val="232B36"/>
                </a:solidFill>
                <a:latin typeface="Aptos"/>
              </a:rPr>
              <a:t>Incidents handled per team/resource</a:t>
            </a:r>
          </a:p>
        </p:txBody>
      </p:sp>
      <p:sp>
        <p:nvSpPr>
          <p:cNvPr id="9" name="Rounded Rectangle 8"/>
          <p:cNvSpPr/>
          <p:nvPr/>
        </p:nvSpPr>
        <p:spPr>
          <a:xfrm>
            <a:off x="777240" y="2167128"/>
            <a:ext cx="10698480" cy="71323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2167128"/>
            <a:ext cx="64008" cy="713232"/>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2295144"/>
            <a:ext cx="10332719" cy="274320"/>
          </a:xfrm>
          <a:prstGeom prst="rect">
            <a:avLst/>
          </a:prstGeom>
          <a:noFill/>
        </p:spPr>
        <p:txBody>
          <a:bodyPr wrap="square">
            <a:spAutoFit/>
          </a:bodyPr>
          <a:lstStyle/>
          <a:p>
            <a:pPr algn="l"/>
            <a:r>
              <a:rPr sz="1000" b="1">
                <a:solidFill>
                  <a:srgbClr val="67717D"/>
                </a:solidFill>
                <a:latin typeface="Aptos"/>
              </a:rPr>
              <a:t>Speed</a:t>
            </a:r>
          </a:p>
        </p:txBody>
      </p:sp>
      <p:sp>
        <p:nvSpPr>
          <p:cNvPr id="12" name="TextBox 11"/>
          <p:cNvSpPr txBox="1"/>
          <p:nvPr/>
        </p:nvSpPr>
        <p:spPr>
          <a:xfrm>
            <a:off x="978408" y="2606040"/>
            <a:ext cx="10332719" cy="164592"/>
          </a:xfrm>
          <a:prstGeom prst="rect">
            <a:avLst/>
          </a:prstGeom>
          <a:noFill/>
        </p:spPr>
        <p:txBody>
          <a:bodyPr wrap="square">
            <a:spAutoFit/>
          </a:bodyPr>
          <a:lstStyle/>
          <a:p>
            <a:pPr algn="l"/>
            <a:r>
              <a:rPr sz="1100" b="0">
                <a:solidFill>
                  <a:srgbClr val="232B36"/>
                </a:solidFill>
                <a:latin typeface="Aptos"/>
              </a:rPr>
              <a:t>Average response time</a:t>
            </a:r>
          </a:p>
        </p:txBody>
      </p:sp>
      <p:sp>
        <p:nvSpPr>
          <p:cNvPr id="13" name="Rounded Rectangle 12"/>
          <p:cNvSpPr/>
          <p:nvPr/>
        </p:nvSpPr>
        <p:spPr>
          <a:xfrm>
            <a:off x="777240" y="3099816"/>
            <a:ext cx="10698480" cy="71323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3099816"/>
            <a:ext cx="64008" cy="713232"/>
          </a:xfrm>
          <a:prstGeom prst="rect">
            <a:avLst/>
          </a:prstGeom>
          <a:solidFill>
            <a:srgbClr val="23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3227832"/>
            <a:ext cx="10332719" cy="274320"/>
          </a:xfrm>
          <a:prstGeom prst="rect">
            <a:avLst/>
          </a:prstGeom>
          <a:noFill/>
        </p:spPr>
        <p:txBody>
          <a:bodyPr wrap="square">
            <a:spAutoFit/>
          </a:bodyPr>
          <a:lstStyle/>
          <a:p>
            <a:pPr algn="l"/>
            <a:r>
              <a:rPr sz="1000" b="1">
                <a:solidFill>
                  <a:srgbClr val="67717D"/>
                </a:solidFill>
                <a:latin typeface="Aptos"/>
              </a:rPr>
              <a:t>Compliance</a:t>
            </a:r>
          </a:p>
        </p:txBody>
      </p:sp>
      <p:sp>
        <p:nvSpPr>
          <p:cNvPr id="16" name="TextBox 15"/>
          <p:cNvSpPr txBox="1"/>
          <p:nvPr/>
        </p:nvSpPr>
        <p:spPr>
          <a:xfrm>
            <a:off x="978408" y="3538728"/>
            <a:ext cx="10332719" cy="164592"/>
          </a:xfrm>
          <a:prstGeom prst="rect">
            <a:avLst/>
          </a:prstGeom>
          <a:noFill/>
        </p:spPr>
        <p:txBody>
          <a:bodyPr wrap="square">
            <a:spAutoFit/>
          </a:bodyPr>
          <a:lstStyle/>
          <a:p>
            <a:pPr algn="l"/>
            <a:r>
              <a:rPr sz="1100" b="0">
                <a:solidFill>
                  <a:srgbClr val="232B36"/>
                </a:solidFill>
                <a:latin typeface="Aptos"/>
              </a:rPr>
              <a:t>SLA met %</a:t>
            </a:r>
          </a:p>
        </p:txBody>
      </p:sp>
      <p:sp>
        <p:nvSpPr>
          <p:cNvPr id="17" name="Rounded Rectangle 16"/>
          <p:cNvSpPr/>
          <p:nvPr/>
        </p:nvSpPr>
        <p:spPr>
          <a:xfrm>
            <a:off x="777240" y="4032504"/>
            <a:ext cx="10698480" cy="71323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4032504"/>
            <a:ext cx="64008" cy="713232"/>
          </a:xfrm>
          <a:prstGeom prst="rect">
            <a:avLst/>
          </a:prstGeom>
          <a:solidFill>
            <a:srgbClr val="EE7E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8408" y="4160520"/>
            <a:ext cx="10332719" cy="274320"/>
          </a:xfrm>
          <a:prstGeom prst="rect">
            <a:avLst/>
          </a:prstGeom>
          <a:noFill/>
        </p:spPr>
        <p:txBody>
          <a:bodyPr wrap="square">
            <a:spAutoFit/>
          </a:bodyPr>
          <a:lstStyle/>
          <a:p>
            <a:pPr algn="l"/>
            <a:r>
              <a:rPr sz="1000" b="1">
                <a:solidFill>
                  <a:srgbClr val="67717D"/>
                </a:solidFill>
                <a:latin typeface="Aptos"/>
              </a:rPr>
              <a:t>Escalation</a:t>
            </a:r>
          </a:p>
        </p:txBody>
      </p:sp>
      <p:sp>
        <p:nvSpPr>
          <p:cNvPr id="20" name="TextBox 19"/>
          <p:cNvSpPr txBox="1"/>
          <p:nvPr/>
        </p:nvSpPr>
        <p:spPr>
          <a:xfrm>
            <a:off x="978408" y="4471416"/>
            <a:ext cx="10332719" cy="164592"/>
          </a:xfrm>
          <a:prstGeom prst="rect">
            <a:avLst/>
          </a:prstGeom>
          <a:noFill/>
        </p:spPr>
        <p:txBody>
          <a:bodyPr wrap="square">
            <a:spAutoFit/>
          </a:bodyPr>
          <a:lstStyle/>
          <a:p>
            <a:pPr algn="l"/>
            <a:r>
              <a:rPr sz="1100" b="0">
                <a:solidFill>
                  <a:srgbClr val="232B36"/>
                </a:solidFill>
                <a:latin typeface="Aptos"/>
              </a:rPr>
              <a:t>Escalations handled</a:t>
            </a:r>
          </a:p>
        </p:txBody>
      </p:sp>
      <p:sp>
        <p:nvSpPr>
          <p:cNvPr id="21" name="Rounded Rectangle 20"/>
          <p:cNvSpPr/>
          <p:nvPr/>
        </p:nvSpPr>
        <p:spPr>
          <a:xfrm>
            <a:off x="777240" y="4965192"/>
            <a:ext cx="10698480" cy="713232"/>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77240" y="4965192"/>
            <a:ext cx="64008" cy="713232"/>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8408" y="5093207"/>
            <a:ext cx="10332719" cy="274320"/>
          </a:xfrm>
          <a:prstGeom prst="rect">
            <a:avLst/>
          </a:prstGeom>
          <a:noFill/>
        </p:spPr>
        <p:txBody>
          <a:bodyPr wrap="square">
            <a:spAutoFit/>
          </a:bodyPr>
          <a:lstStyle/>
          <a:p>
            <a:pPr algn="l"/>
            <a:r>
              <a:rPr sz="1000" b="1">
                <a:solidFill>
                  <a:srgbClr val="67717D"/>
                </a:solidFill>
                <a:latin typeface="Aptos"/>
              </a:rPr>
              <a:t>Outcome</a:t>
            </a:r>
          </a:p>
        </p:txBody>
      </p:sp>
      <p:sp>
        <p:nvSpPr>
          <p:cNvPr id="24" name="TextBox 23"/>
          <p:cNvSpPr txBox="1"/>
          <p:nvPr/>
        </p:nvSpPr>
        <p:spPr>
          <a:xfrm>
            <a:off x="978408" y="5404104"/>
            <a:ext cx="10332719" cy="164592"/>
          </a:xfrm>
          <a:prstGeom prst="rect">
            <a:avLst/>
          </a:prstGeom>
          <a:noFill/>
        </p:spPr>
        <p:txBody>
          <a:bodyPr wrap="square">
            <a:spAutoFit/>
          </a:bodyPr>
          <a:lstStyle/>
          <a:p>
            <a:pPr algn="l"/>
            <a:r>
              <a:rPr sz="1100" b="0">
                <a:solidFill>
                  <a:srgbClr val="232B36"/>
                </a:solidFill>
                <a:latin typeface="Aptos"/>
              </a:rPr>
              <a:t>Resolved vs unresolved</a:t>
            </a:r>
          </a:p>
        </p:txBody>
      </p:sp>
      <p:sp>
        <p:nvSpPr>
          <p:cNvPr id="25" name="TextBox 24"/>
          <p:cNvSpPr txBox="1"/>
          <p:nvPr/>
        </p:nvSpPr>
        <p:spPr>
          <a:xfrm>
            <a:off x="822960" y="5989320"/>
            <a:ext cx="2743200" cy="274320"/>
          </a:xfrm>
          <a:prstGeom prst="rect">
            <a:avLst/>
          </a:prstGeom>
          <a:noFill/>
        </p:spPr>
        <p:txBody>
          <a:bodyPr wrap="square">
            <a:spAutoFit/>
          </a:bodyPr>
          <a:lstStyle/>
          <a:p>
            <a:pPr algn="l"/>
            <a:r>
              <a:rPr sz="1300" b="1">
                <a:solidFill>
                  <a:srgbClr val="0A1830"/>
                </a:solidFill>
                <a:latin typeface="Aptos"/>
              </a:rPr>
              <a:t>Recommended resource table</a:t>
            </a:r>
          </a:p>
        </p:txBody>
      </p:sp>
      <p:sp>
        <p:nvSpPr>
          <p:cNvPr id="26" name="TextBox 25"/>
          <p:cNvSpPr txBox="1"/>
          <p:nvPr/>
        </p:nvSpPr>
        <p:spPr>
          <a:xfrm>
            <a:off x="822960" y="6336792"/>
            <a:ext cx="10515600" cy="292608"/>
          </a:xfrm>
          <a:prstGeom prst="rect">
            <a:avLst/>
          </a:prstGeom>
          <a:noFill/>
        </p:spPr>
        <p:txBody>
          <a:bodyPr wrap="square">
            <a:spAutoFit/>
          </a:bodyPr>
          <a:lstStyle/>
          <a:p>
            <a:pPr algn="ctr"/>
            <a:r>
              <a:rPr sz="1200" b="0">
                <a:solidFill>
                  <a:srgbClr val="232B36"/>
                </a:solidFill>
                <a:latin typeface="Aptos"/>
              </a:rPr>
              <a:t>Resource / Team | Incidents handled | Avg response | SLA % | Escalations | Utilization</a:t>
            </a:r>
          </a:p>
        </p:txBody>
      </p:sp>
      <p:sp>
        <p:nvSpPr>
          <p:cNvPr id="27" name="TextBox 26"/>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28" name="TextBox 27"/>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8. Interactive Analysis Filters</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Let the manager investigate a specific operational slice</a:t>
            </a:r>
          </a:p>
        </p:txBody>
      </p:sp>
      <p:sp>
        <p:nvSpPr>
          <p:cNvPr id="5" name="Rounded Rectangle 4"/>
          <p:cNvSpPr/>
          <p:nvPr/>
        </p:nvSpPr>
        <p:spPr>
          <a:xfrm>
            <a:off x="731520" y="1417320"/>
            <a:ext cx="3291840" cy="9601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17320"/>
            <a:ext cx="64008" cy="9601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545336"/>
            <a:ext cx="2926080" cy="274320"/>
          </a:xfrm>
          <a:prstGeom prst="rect">
            <a:avLst/>
          </a:prstGeom>
          <a:noFill/>
        </p:spPr>
        <p:txBody>
          <a:bodyPr wrap="square">
            <a:spAutoFit/>
          </a:bodyPr>
          <a:lstStyle/>
          <a:p>
            <a:pPr algn="l"/>
            <a:r>
              <a:rPr sz="1000" b="1">
                <a:solidFill>
                  <a:srgbClr val="67717D"/>
                </a:solidFill>
                <a:latin typeface="Aptos"/>
              </a:rPr>
              <a:t>FILTER</a:t>
            </a:r>
          </a:p>
        </p:txBody>
      </p:sp>
      <p:sp>
        <p:nvSpPr>
          <p:cNvPr id="8" name="TextBox 7"/>
          <p:cNvSpPr txBox="1"/>
          <p:nvPr/>
        </p:nvSpPr>
        <p:spPr>
          <a:xfrm>
            <a:off x="932688" y="1856232"/>
            <a:ext cx="2926080" cy="384048"/>
          </a:xfrm>
          <a:prstGeom prst="rect">
            <a:avLst/>
          </a:prstGeom>
          <a:noFill/>
        </p:spPr>
        <p:txBody>
          <a:bodyPr wrap="square">
            <a:spAutoFit/>
          </a:bodyPr>
          <a:lstStyle/>
          <a:p>
            <a:pPr algn="l"/>
            <a:r>
              <a:rPr sz="2300" b="1">
                <a:solidFill>
                  <a:srgbClr val="0A1830"/>
                </a:solidFill>
                <a:latin typeface="Aptos"/>
              </a:rPr>
              <a:t>Date / Week / Month</a:t>
            </a:r>
          </a:p>
        </p:txBody>
      </p:sp>
      <p:sp>
        <p:nvSpPr>
          <p:cNvPr id="9" name="Rounded Rectangle 8"/>
          <p:cNvSpPr/>
          <p:nvPr/>
        </p:nvSpPr>
        <p:spPr>
          <a:xfrm>
            <a:off x="4434840" y="1417320"/>
            <a:ext cx="3291840" cy="9601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1417320"/>
            <a:ext cx="64008" cy="960120"/>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36007" y="1545336"/>
            <a:ext cx="2926080" cy="274320"/>
          </a:xfrm>
          <a:prstGeom prst="rect">
            <a:avLst/>
          </a:prstGeom>
          <a:noFill/>
        </p:spPr>
        <p:txBody>
          <a:bodyPr wrap="square">
            <a:spAutoFit/>
          </a:bodyPr>
          <a:lstStyle/>
          <a:p>
            <a:pPr algn="l"/>
            <a:r>
              <a:rPr sz="1000" b="1">
                <a:solidFill>
                  <a:srgbClr val="67717D"/>
                </a:solidFill>
                <a:latin typeface="Aptos"/>
              </a:rPr>
              <a:t>FILTER</a:t>
            </a:r>
          </a:p>
        </p:txBody>
      </p:sp>
      <p:sp>
        <p:nvSpPr>
          <p:cNvPr id="12" name="TextBox 11"/>
          <p:cNvSpPr txBox="1"/>
          <p:nvPr/>
        </p:nvSpPr>
        <p:spPr>
          <a:xfrm>
            <a:off x="4636007" y="1856232"/>
            <a:ext cx="2926080" cy="384048"/>
          </a:xfrm>
          <a:prstGeom prst="rect">
            <a:avLst/>
          </a:prstGeom>
          <a:noFill/>
        </p:spPr>
        <p:txBody>
          <a:bodyPr wrap="square">
            <a:spAutoFit/>
          </a:bodyPr>
          <a:lstStyle/>
          <a:p>
            <a:pPr algn="l"/>
            <a:r>
              <a:rPr sz="2300" b="1">
                <a:solidFill>
                  <a:srgbClr val="0A1830"/>
                </a:solidFill>
                <a:latin typeface="Aptos"/>
              </a:rPr>
              <a:t>Zone</a:t>
            </a:r>
          </a:p>
        </p:txBody>
      </p:sp>
      <p:sp>
        <p:nvSpPr>
          <p:cNvPr id="13" name="Rounded Rectangle 12"/>
          <p:cNvSpPr/>
          <p:nvPr/>
        </p:nvSpPr>
        <p:spPr>
          <a:xfrm>
            <a:off x="8138160" y="1417320"/>
            <a:ext cx="3291840" cy="9601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417320"/>
            <a:ext cx="64008" cy="960120"/>
          </a:xfrm>
          <a:prstGeom prst="rect">
            <a:avLst/>
          </a:prstGeom>
          <a:solidFill>
            <a:srgbClr val="EE7E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9328" y="1545336"/>
            <a:ext cx="2926080" cy="274320"/>
          </a:xfrm>
          <a:prstGeom prst="rect">
            <a:avLst/>
          </a:prstGeom>
          <a:noFill/>
        </p:spPr>
        <p:txBody>
          <a:bodyPr wrap="square">
            <a:spAutoFit/>
          </a:bodyPr>
          <a:lstStyle/>
          <a:p>
            <a:pPr algn="l"/>
            <a:r>
              <a:rPr sz="1000" b="1">
                <a:solidFill>
                  <a:srgbClr val="67717D"/>
                </a:solidFill>
                <a:latin typeface="Aptos"/>
              </a:rPr>
              <a:t>FILTER</a:t>
            </a:r>
          </a:p>
        </p:txBody>
      </p:sp>
      <p:sp>
        <p:nvSpPr>
          <p:cNvPr id="16" name="TextBox 15"/>
          <p:cNvSpPr txBox="1"/>
          <p:nvPr/>
        </p:nvSpPr>
        <p:spPr>
          <a:xfrm>
            <a:off x="8339328" y="1856232"/>
            <a:ext cx="2926080" cy="384048"/>
          </a:xfrm>
          <a:prstGeom prst="rect">
            <a:avLst/>
          </a:prstGeom>
          <a:noFill/>
        </p:spPr>
        <p:txBody>
          <a:bodyPr wrap="square">
            <a:spAutoFit/>
          </a:bodyPr>
          <a:lstStyle/>
          <a:p>
            <a:pPr algn="l"/>
            <a:r>
              <a:rPr sz="2300" b="1">
                <a:solidFill>
                  <a:srgbClr val="0A1830"/>
                </a:solidFill>
                <a:latin typeface="Aptos"/>
              </a:rPr>
              <a:t>Location</a:t>
            </a:r>
          </a:p>
        </p:txBody>
      </p:sp>
      <p:sp>
        <p:nvSpPr>
          <p:cNvPr id="17" name="Rounded Rectangle 16"/>
          <p:cNvSpPr/>
          <p:nvPr/>
        </p:nvSpPr>
        <p:spPr>
          <a:xfrm>
            <a:off x="731520" y="2743200"/>
            <a:ext cx="3291840" cy="9601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2743200"/>
            <a:ext cx="64008" cy="960120"/>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2871216"/>
            <a:ext cx="2926080" cy="274320"/>
          </a:xfrm>
          <a:prstGeom prst="rect">
            <a:avLst/>
          </a:prstGeom>
          <a:noFill/>
        </p:spPr>
        <p:txBody>
          <a:bodyPr wrap="square">
            <a:spAutoFit/>
          </a:bodyPr>
          <a:lstStyle/>
          <a:p>
            <a:pPr algn="l"/>
            <a:r>
              <a:rPr sz="1000" b="1">
                <a:solidFill>
                  <a:srgbClr val="67717D"/>
                </a:solidFill>
                <a:latin typeface="Aptos"/>
              </a:rPr>
              <a:t>FILTER</a:t>
            </a:r>
          </a:p>
        </p:txBody>
      </p:sp>
      <p:sp>
        <p:nvSpPr>
          <p:cNvPr id="20" name="TextBox 19"/>
          <p:cNvSpPr txBox="1"/>
          <p:nvPr/>
        </p:nvSpPr>
        <p:spPr>
          <a:xfrm>
            <a:off x="932688" y="3182112"/>
            <a:ext cx="2926080" cy="384048"/>
          </a:xfrm>
          <a:prstGeom prst="rect">
            <a:avLst/>
          </a:prstGeom>
          <a:noFill/>
        </p:spPr>
        <p:txBody>
          <a:bodyPr wrap="square">
            <a:spAutoFit/>
          </a:bodyPr>
          <a:lstStyle/>
          <a:p>
            <a:pPr algn="l"/>
            <a:r>
              <a:rPr sz="2300" b="1">
                <a:solidFill>
                  <a:srgbClr val="0A1830"/>
                </a:solidFill>
                <a:latin typeface="Aptos"/>
              </a:rPr>
              <a:t>Risk Tier</a:t>
            </a:r>
          </a:p>
        </p:txBody>
      </p:sp>
      <p:sp>
        <p:nvSpPr>
          <p:cNvPr id="21" name="Rounded Rectangle 20"/>
          <p:cNvSpPr/>
          <p:nvPr/>
        </p:nvSpPr>
        <p:spPr>
          <a:xfrm>
            <a:off x="4434840" y="2743200"/>
            <a:ext cx="3291840" cy="9601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34840" y="2743200"/>
            <a:ext cx="64008" cy="960120"/>
          </a:xfrm>
          <a:prstGeom prst="rect">
            <a:avLst/>
          </a:prstGeom>
          <a:solidFill>
            <a:srgbClr val="23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36007" y="2871216"/>
            <a:ext cx="2926080" cy="274320"/>
          </a:xfrm>
          <a:prstGeom prst="rect">
            <a:avLst/>
          </a:prstGeom>
          <a:noFill/>
        </p:spPr>
        <p:txBody>
          <a:bodyPr wrap="square">
            <a:spAutoFit/>
          </a:bodyPr>
          <a:lstStyle/>
          <a:p>
            <a:pPr algn="l"/>
            <a:r>
              <a:rPr sz="1000" b="1">
                <a:solidFill>
                  <a:srgbClr val="67717D"/>
                </a:solidFill>
                <a:latin typeface="Aptos"/>
              </a:rPr>
              <a:t>FILTER</a:t>
            </a:r>
          </a:p>
        </p:txBody>
      </p:sp>
      <p:sp>
        <p:nvSpPr>
          <p:cNvPr id="24" name="TextBox 23"/>
          <p:cNvSpPr txBox="1"/>
          <p:nvPr/>
        </p:nvSpPr>
        <p:spPr>
          <a:xfrm>
            <a:off x="4636007" y="3182112"/>
            <a:ext cx="2926080" cy="384048"/>
          </a:xfrm>
          <a:prstGeom prst="rect">
            <a:avLst/>
          </a:prstGeom>
          <a:noFill/>
        </p:spPr>
        <p:txBody>
          <a:bodyPr wrap="square">
            <a:spAutoFit/>
          </a:bodyPr>
          <a:lstStyle/>
          <a:p>
            <a:pPr algn="l"/>
            <a:r>
              <a:rPr sz="2300" b="1">
                <a:solidFill>
                  <a:srgbClr val="0A1830"/>
                </a:solidFill>
                <a:latin typeface="Aptos"/>
              </a:rPr>
              <a:t>Threat Type</a:t>
            </a:r>
          </a:p>
        </p:txBody>
      </p:sp>
      <p:sp>
        <p:nvSpPr>
          <p:cNvPr id="25" name="Rounded Rectangle 24"/>
          <p:cNvSpPr/>
          <p:nvPr/>
        </p:nvSpPr>
        <p:spPr>
          <a:xfrm>
            <a:off x="8138160" y="2743200"/>
            <a:ext cx="3291840" cy="96012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38160" y="2743200"/>
            <a:ext cx="64008" cy="96012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39328" y="2871216"/>
            <a:ext cx="2926080" cy="274320"/>
          </a:xfrm>
          <a:prstGeom prst="rect">
            <a:avLst/>
          </a:prstGeom>
          <a:noFill/>
        </p:spPr>
        <p:txBody>
          <a:bodyPr wrap="square">
            <a:spAutoFit/>
          </a:bodyPr>
          <a:lstStyle/>
          <a:p>
            <a:pPr algn="l"/>
            <a:r>
              <a:rPr sz="1000" b="1">
                <a:solidFill>
                  <a:srgbClr val="67717D"/>
                </a:solidFill>
                <a:latin typeface="Aptos"/>
              </a:rPr>
              <a:t>FILTER</a:t>
            </a:r>
          </a:p>
        </p:txBody>
      </p:sp>
      <p:sp>
        <p:nvSpPr>
          <p:cNvPr id="28" name="TextBox 27"/>
          <p:cNvSpPr txBox="1"/>
          <p:nvPr/>
        </p:nvSpPr>
        <p:spPr>
          <a:xfrm>
            <a:off x="8339328" y="3182112"/>
            <a:ext cx="2926080" cy="384048"/>
          </a:xfrm>
          <a:prstGeom prst="rect">
            <a:avLst/>
          </a:prstGeom>
          <a:noFill/>
        </p:spPr>
        <p:txBody>
          <a:bodyPr wrap="square">
            <a:spAutoFit/>
          </a:bodyPr>
          <a:lstStyle/>
          <a:p>
            <a:pPr algn="l"/>
            <a:r>
              <a:rPr sz="2300" b="1">
                <a:solidFill>
                  <a:srgbClr val="0A1830"/>
                </a:solidFill>
                <a:latin typeface="Aptos"/>
              </a:rPr>
              <a:t>Resource / Team</a:t>
            </a:r>
          </a:p>
        </p:txBody>
      </p:sp>
      <p:sp>
        <p:nvSpPr>
          <p:cNvPr id="29" name="TextBox 28"/>
          <p:cNvSpPr txBox="1"/>
          <p:nvPr/>
        </p:nvSpPr>
        <p:spPr>
          <a:xfrm>
            <a:off x="731520" y="4389120"/>
            <a:ext cx="2834640" cy="274320"/>
          </a:xfrm>
          <a:prstGeom prst="rect">
            <a:avLst/>
          </a:prstGeom>
          <a:noFill/>
        </p:spPr>
        <p:txBody>
          <a:bodyPr wrap="square">
            <a:spAutoFit/>
          </a:bodyPr>
          <a:lstStyle/>
          <a:p>
            <a:pPr algn="l"/>
            <a:r>
              <a:rPr sz="1400" b="1">
                <a:solidFill>
                  <a:srgbClr val="67717D"/>
                </a:solidFill>
                <a:latin typeface="Aptos"/>
              </a:rPr>
              <a:t>Example management question</a:t>
            </a:r>
          </a:p>
        </p:txBody>
      </p:sp>
      <p:sp>
        <p:nvSpPr>
          <p:cNvPr id="30" name="TextBox 29"/>
          <p:cNvSpPr txBox="1"/>
          <p:nvPr/>
        </p:nvSpPr>
        <p:spPr>
          <a:xfrm>
            <a:off x="731520" y="4800600"/>
            <a:ext cx="10698480" cy="822960"/>
          </a:xfrm>
          <a:prstGeom prst="rect">
            <a:avLst/>
          </a:prstGeom>
          <a:noFill/>
        </p:spPr>
        <p:txBody>
          <a:bodyPr wrap="square">
            <a:spAutoFit/>
          </a:bodyPr>
          <a:lstStyle/>
          <a:p>
            <a:pPr algn="ctr"/>
            <a:r>
              <a:rPr sz="2200" b="1">
                <a:solidFill>
                  <a:srgbClr val="0A1830"/>
                </a:solidFill>
                <a:latin typeface="Aptos"/>
              </a:rPr>
              <a:t>“Show High/Critical incidents in Zone G during the selected period and compare response performance with deployed resources.”</a:t>
            </a:r>
          </a:p>
        </p:txBody>
      </p:sp>
      <p:sp>
        <p:nvSpPr>
          <p:cNvPr id="31" name="TextBox 30"/>
          <p:cNvSpPr txBox="1"/>
          <p:nvPr/>
        </p:nvSpPr>
        <p:spPr>
          <a:xfrm>
            <a:off x="731520" y="5897880"/>
            <a:ext cx="10698480" cy="365760"/>
          </a:xfrm>
          <a:prstGeom prst="rect">
            <a:avLst/>
          </a:prstGeom>
          <a:noFill/>
        </p:spPr>
        <p:txBody>
          <a:bodyPr wrap="square">
            <a:spAutoFit/>
          </a:bodyPr>
          <a:lstStyle/>
          <a:p>
            <a:pPr algn="ctr"/>
            <a:r>
              <a:rPr sz="1600" b="1">
                <a:solidFill>
                  <a:srgbClr val="1F6FEB"/>
                </a:solidFill>
                <a:latin typeface="Aptos"/>
              </a:rPr>
              <a:t>Filters turn a static report into an investigation tool.</a:t>
            </a:r>
          </a:p>
        </p:txBody>
      </p:sp>
      <p:sp>
        <p:nvSpPr>
          <p:cNvPr id="32" name="TextBox 31"/>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33" name="TextBox 32"/>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9. Key Insights &amp; Observations</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Evidence → interpretation → action</a:t>
            </a:r>
          </a:p>
        </p:txBody>
      </p:sp>
      <p:sp>
        <p:nvSpPr>
          <p:cNvPr id="5" name="Oval 4"/>
          <p:cNvSpPr/>
          <p:nvPr/>
        </p:nvSpPr>
        <p:spPr>
          <a:xfrm>
            <a:off x="704088" y="1188720"/>
            <a:ext cx="438912" cy="438912"/>
          </a:xfrm>
          <a:prstGeom prst="ellipse">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243584"/>
            <a:ext cx="438912" cy="228600"/>
          </a:xfrm>
          <a:prstGeom prst="rect">
            <a:avLst/>
          </a:prstGeom>
          <a:noFill/>
        </p:spPr>
        <p:txBody>
          <a:bodyPr wrap="square">
            <a:spAutoFit/>
          </a:bodyPr>
          <a:lstStyle/>
          <a:p>
            <a:pPr algn="ctr"/>
            <a:r>
              <a:rPr sz="1100" b="1">
                <a:solidFill>
                  <a:srgbClr val="FFFFFF"/>
                </a:solidFill>
                <a:latin typeface="Aptos"/>
              </a:rPr>
              <a:t>1</a:t>
            </a:r>
          </a:p>
        </p:txBody>
      </p:sp>
      <p:sp>
        <p:nvSpPr>
          <p:cNvPr id="7" name="TextBox 6"/>
          <p:cNvSpPr txBox="1"/>
          <p:nvPr/>
        </p:nvSpPr>
        <p:spPr>
          <a:xfrm>
            <a:off x="1325880" y="1170432"/>
            <a:ext cx="1828800" cy="274320"/>
          </a:xfrm>
          <a:prstGeom prst="rect">
            <a:avLst/>
          </a:prstGeom>
          <a:noFill/>
        </p:spPr>
        <p:txBody>
          <a:bodyPr wrap="square">
            <a:spAutoFit/>
          </a:bodyPr>
          <a:lstStyle/>
          <a:p>
            <a:pPr algn="l"/>
            <a:r>
              <a:rPr sz="1300" b="1">
                <a:solidFill>
                  <a:srgbClr val="0A1830"/>
                </a:solidFill>
                <a:latin typeface="Aptos"/>
              </a:rPr>
              <a:t>Threat concentration</a:t>
            </a:r>
          </a:p>
        </p:txBody>
      </p:sp>
      <p:sp>
        <p:nvSpPr>
          <p:cNvPr id="8" name="TextBox 7"/>
          <p:cNvSpPr txBox="1"/>
          <p:nvPr/>
        </p:nvSpPr>
        <p:spPr>
          <a:xfrm>
            <a:off x="3108960" y="1170432"/>
            <a:ext cx="4023360" cy="438912"/>
          </a:xfrm>
          <a:prstGeom prst="rect">
            <a:avLst/>
          </a:prstGeom>
          <a:noFill/>
        </p:spPr>
        <p:txBody>
          <a:bodyPr wrap="square">
            <a:spAutoFit/>
          </a:bodyPr>
          <a:lstStyle/>
          <a:p>
            <a:pPr algn="l"/>
            <a:r>
              <a:rPr sz="1200" b="0">
                <a:solidFill>
                  <a:srgbClr val="232B36"/>
                </a:solidFill>
                <a:latin typeface="Aptos"/>
              </a:rPr>
              <a:t>Zone H has the highest displayed incident count: 624.</a:t>
            </a:r>
          </a:p>
        </p:txBody>
      </p:sp>
      <p:sp>
        <p:nvSpPr>
          <p:cNvPr id="9" name="TextBox 8"/>
          <p:cNvSpPr txBox="1"/>
          <p:nvPr/>
        </p:nvSpPr>
        <p:spPr>
          <a:xfrm>
            <a:off x="7223760" y="1170432"/>
            <a:ext cx="4251960" cy="502920"/>
          </a:xfrm>
          <a:prstGeom prst="rect">
            <a:avLst/>
          </a:prstGeom>
          <a:noFill/>
        </p:spPr>
        <p:txBody>
          <a:bodyPr wrap="square">
            <a:spAutoFit/>
          </a:bodyPr>
          <a:lstStyle/>
          <a:p>
            <a:pPr algn="l"/>
            <a:r>
              <a:rPr sz="1200" b="1">
                <a:solidFill>
                  <a:srgbClr val="67717D"/>
                </a:solidFill>
                <a:latin typeface="Aptos"/>
              </a:rPr>
              <a:t>→ Prioritize hotspot investigation and validate geography.</a:t>
            </a:r>
          </a:p>
        </p:txBody>
      </p:sp>
      <p:sp>
        <p:nvSpPr>
          <p:cNvPr id="10" name="Oval 9"/>
          <p:cNvSpPr/>
          <p:nvPr/>
        </p:nvSpPr>
        <p:spPr>
          <a:xfrm>
            <a:off x="704088" y="2167128"/>
            <a:ext cx="438912" cy="438912"/>
          </a:xfrm>
          <a:prstGeom prst="ellipse">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221992"/>
            <a:ext cx="438912" cy="228600"/>
          </a:xfrm>
          <a:prstGeom prst="rect">
            <a:avLst/>
          </a:prstGeom>
          <a:noFill/>
        </p:spPr>
        <p:txBody>
          <a:bodyPr wrap="square">
            <a:spAutoFit/>
          </a:bodyPr>
          <a:lstStyle/>
          <a:p>
            <a:pPr algn="ctr"/>
            <a:r>
              <a:rPr sz="1100" b="1">
                <a:solidFill>
                  <a:srgbClr val="FFFFFF"/>
                </a:solidFill>
                <a:latin typeface="Aptos"/>
              </a:rPr>
              <a:t>2</a:t>
            </a:r>
          </a:p>
        </p:txBody>
      </p:sp>
      <p:sp>
        <p:nvSpPr>
          <p:cNvPr id="12" name="TextBox 11"/>
          <p:cNvSpPr txBox="1"/>
          <p:nvPr/>
        </p:nvSpPr>
        <p:spPr>
          <a:xfrm>
            <a:off x="1325880" y="2148840"/>
            <a:ext cx="1828800" cy="274320"/>
          </a:xfrm>
          <a:prstGeom prst="rect">
            <a:avLst/>
          </a:prstGeom>
          <a:noFill/>
        </p:spPr>
        <p:txBody>
          <a:bodyPr wrap="square">
            <a:spAutoFit/>
          </a:bodyPr>
          <a:lstStyle/>
          <a:p>
            <a:pPr algn="l"/>
            <a:r>
              <a:rPr sz="1300" b="1">
                <a:solidFill>
                  <a:srgbClr val="0A1830"/>
                </a:solidFill>
                <a:latin typeface="Aptos"/>
              </a:rPr>
              <a:t>Risk context</a:t>
            </a:r>
          </a:p>
        </p:txBody>
      </p:sp>
      <p:sp>
        <p:nvSpPr>
          <p:cNvPr id="13" name="TextBox 12"/>
          <p:cNvSpPr txBox="1"/>
          <p:nvPr/>
        </p:nvSpPr>
        <p:spPr>
          <a:xfrm>
            <a:off x="3108960" y="2148840"/>
            <a:ext cx="4023360" cy="438912"/>
          </a:xfrm>
          <a:prstGeom prst="rect">
            <a:avLst/>
          </a:prstGeom>
          <a:noFill/>
        </p:spPr>
        <p:txBody>
          <a:bodyPr wrap="square">
            <a:spAutoFit/>
          </a:bodyPr>
          <a:lstStyle/>
          <a:p>
            <a:pPr algn="l"/>
            <a:r>
              <a:rPr sz="1200" b="0">
                <a:solidFill>
                  <a:srgbClr val="232B36"/>
                </a:solidFill>
                <a:latin typeface="Aptos"/>
              </a:rPr>
              <a:t>Risk tiers distinguish severity beyond raw incident volume.</a:t>
            </a:r>
          </a:p>
        </p:txBody>
      </p:sp>
      <p:sp>
        <p:nvSpPr>
          <p:cNvPr id="14" name="TextBox 13"/>
          <p:cNvSpPr txBox="1"/>
          <p:nvPr/>
        </p:nvSpPr>
        <p:spPr>
          <a:xfrm>
            <a:off x="7223760" y="2148840"/>
            <a:ext cx="4251960" cy="502920"/>
          </a:xfrm>
          <a:prstGeom prst="rect">
            <a:avLst/>
          </a:prstGeom>
          <a:noFill/>
        </p:spPr>
        <p:txBody>
          <a:bodyPr wrap="square">
            <a:spAutoFit/>
          </a:bodyPr>
          <a:lstStyle/>
          <a:p>
            <a:pPr algn="l"/>
            <a:r>
              <a:rPr sz="1200" b="1">
                <a:solidFill>
                  <a:srgbClr val="67717D"/>
                </a:solidFill>
                <a:latin typeface="Aptos"/>
              </a:rPr>
              <a:t>→ Prioritize Critical/High activity even if volume is not the highest.</a:t>
            </a:r>
          </a:p>
        </p:txBody>
      </p:sp>
      <p:sp>
        <p:nvSpPr>
          <p:cNvPr id="15" name="Oval 14"/>
          <p:cNvSpPr/>
          <p:nvPr/>
        </p:nvSpPr>
        <p:spPr>
          <a:xfrm>
            <a:off x="704088" y="3145536"/>
            <a:ext cx="438912" cy="438912"/>
          </a:xfrm>
          <a:prstGeom prst="ellipse">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4088" y="3200400"/>
            <a:ext cx="438912" cy="228600"/>
          </a:xfrm>
          <a:prstGeom prst="rect">
            <a:avLst/>
          </a:prstGeom>
          <a:noFill/>
        </p:spPr>
        <p:txBody>
          <a:bodyPr wrap="square">
            <a:spAutoFit/>
          </a:bodyPr>
          <a:lstStyle/>
          <a:p>
            <a:pPr algn="ctr"/>
            <a:r>
              <a:rPr sz="1100" b="1">
                <a:solidFill>
                  <a:srgbClr val="FFFFFF"/>
                </a:solidFill>
                <a:latin typeface="Aptos"/>
              </a:rPr>
              <a:t>3</a:t>
            </a:r>
          </a:p>
        </p:txBody>
      </p:sp>
      <p:sp>
        <p:nvSpPr>
          <p:cNvPr id="17" name="TextBox 16"/>
          <p:cNvSpPr txBox="1"/>
          <p:nvPr/>
        </p:nvSpPr>
        <p:spPr>
          <a:xfrm>
            <a:off x="1325880" y="3127248"/>
            <a:ext cx="1828800" cy="274320"/>
          </a:xfrm>
          <a:prstGeom prst="rect">
            <a:avLst/>
          </a:prstGeom>
          <a:noFill/>
        </p:spPr>
        <p:txBody>
          <a:bodyPr wrap="square">
            <a:spAutoFit/>
          </a:bodyPr>
          <a:lstStyle/>
          <a:p>
            <a:pPr algn="l"/>
            <a:r>
              <a:rPr sz="1300" b="1">
                <a:solidFill>
                  <a:srgbClr val="0A1830"/>
                </a:solidFill>
                <a:latin typeface="Aptos"/>
              </a:rPr>
              <a:t>Response</a:t>
            </a:r>
          </a:p>
        </p:txBody>
      </p:sp>
      <p:sp>
        <p:nvSpPr>
          <p:cNvPr id="18" name="TextBox 17"/>
          <p:cNvSpPr txBox="1"/>
          <p:nvPr/>
        </p:nvSpPr>
        <p:spPr>
          <a:xfrm>
            <a:off x="3108960" y="3127248"/>
            <a:ext cx="4023360" cy="438912"/>
          </a:xfrm>
          <a:prstGeom prst="rect">
            <a:avLst/>
          </a:prstGeom>
          <a:noFill/>
        </p:spPr>
        <p:txBody>
          <a:bodyPr wrap="square">
            <a:spAutoFit/>
          </a:bodyPr>
          <a:lstStyle/>
          <a:p>
            <a:pPr algn="l"/>
            <a:r>
              <a:rPr sz="1200" b="0">
                <a:solidFill>
                  <a:srgbClr val="232B36"/>
                </a:solidFill>
                <a:latin typeface="Aptos"/>
              </a:rPr>
              <a:t>Average response time is displayed as 10.79; SLA KPI is 0.88.</a:t>
            </a:r>
          </a:p>
        </p:txBody>
      </p:sp>
      <p:sp>
        <p:nvSpPr>
          <p:cNvPr id="19" name="TextBox 18"/>
          <p:cNvSpPr txBox="1"/>
          <p:nvPr/>
        </p:nvSpPr>
        <p:spPr>
          <a:xfrm>
            <a:off x="7223760" y="3127248"/>
            <a:ext cx="4251960" cy="502920"/>
          </a:xfrm>
          <a:prstGeom prst="rect">
            <a:avLst/>
          </a:prstGeom>
          <a:noFill/>
        </p:spPr>
        <p:txBody>
          <a:bodyPr wrap="square">
            <a:spAutoFit/>
          </a:bodyPr>
          <a:lstStyle/>
          <a:p>
            <a:pPr algn="l"/>
            <a:r>
              <a:rPr sz="1200" b="1">
                <a:solidFill>
                  <a:srgbClr val="67717D"/>
                </a:solidFill>
                <a:latin typeface="Aptos"/>
              </a:rPr>
              <a:t>→ Validate definitions and source timestamps; monitor by zone.</a:t>
            </a:r>
          </a:p>
        </p:txBody>
      </p:sp>
      <p:sp>
        <p:nvSpPr>
          <p:cNvPr id="20" name="Oval 19"/>
          <p:cNvSpPr/>
          <p:nvPr/>
        </p:nvSpPr>
        <p:spPr>
          <a:xfrm>
            <a:off x="704088" y="4123944"/>
            <a:ext cx="438912" cy="438912"/>
          </a:xfrm>
          <a:prstGeom prst="ellipse">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4178807"/>
            <a:ext cx="438912" cy="228600"/>
          </a:xfrm>
          <a:prstGeom prst="rect">
            <a:avLst/>
          </a:prstGeom>
          <a:noFill/>
        </p:spPr>
        <p:txBody>
          <a:bodyPr wrap="square">
            <a:spAutoFit/>
          </a:bodyPr>
          <a:lstStyle/>
          <a:p>
            <a:pPr algn="ctr"/>
            <a:r>
              <a:rPr sz="1100" b="1">
                <a:solidFill>
                  <a:srgbClr val="FFFFFF"/>
                </a:solidFill>
                <a:latin typeface="Aptos"/>
              </a:rPr>
              <a:t>4</a:t>
            </a:r>
          </a:p>
        </p:txBody>
      </p:sp>
      <p:sp>
        <p:nvSpPr>
          <p:cNvPr id="22" name="TextBox 21"/>
          <p:cNvSpPr txBox="1"/>
          <p:nvPr/>
        </p:nvSpPr>
        <p:spPr>
          <a:xfrm>
            <a:off x="1325880" y="4105656"/>
            <a:ext cx="1828800" cy="274320"/>
          </a:xfrm>
          <a:prstGeom prst="rect">
            <a:avLst/>
          </a:prstGeom>
          <a:noFill/>
        </p:spPr>
        <p:txBody>
          <a:bodyPr wrap="square">
            <a:spAutoFit/>
          </a:bodyPr>
          <a:lstStyle/>
          <a:p>
            <a:pPr algn="l"/>
            <a:r>
              <a:rPr sz="1300" b="1">
                <a:solidFill>
                  <a:srgbClr val="0A1830"/>
                </a:solidFill>
                <a:latin typeface="Aptos"/>
              </a:rPr>
              <a:t>Escalation</a:t>
            </a:r>
          </a:p>
        </p:txBody>
      </p:sp>
      <p:sp>
        <p:nvSpPr>
          <p:cNvPr id="23" name="TextBox 22"/>
          <p:cNvSpPr txBox="1"/>
          <p:nvPr/>
        </p:nvSpPr>
        <p:spPr>
          <a:xfrm>
            <a:off x="3108960" y="4105656"/>
            <a:ext cx="4023360" cy="438912"/>
          </a:xfrm>
          <a:prstGeom prst="rect">
            <a:avLst/>
          </a:prstGeom>
          <a:noFill/>
        </p:spPr>
        <p:txBody>
          <a:bodyPr wrap="square">
            <a:spAutoFit/>
          </a:bodyPr>
          <a:lstStyle/>
          <a:p>
            <a:pPr algn="l"/>
            <a:r>
              <a:rPr sz="1200" b="0">
                <a:solidFill>
                  <a:srgbClr val="232B36"/>
                </a:solidFill>
                <a:latin typeface="Aptos"/>
              </a:rPr>
              <a:t>Displayed zone escalation rates are roughly 9–12%.</a:t>
            </a:r>
          </a:p>
        </p:txBody>
      </p:sp>
      <p:sp>
        <p:nvSpPr>
          <p:cNvPr id="24" name="TextBox 23"/>
          <p:cNvSpPr txBox="1"/>
          <p:nvPr/>
        </p:nvSpPr>
        <p:spPr>
          <a:xfrm>
            <a:off x="7223760" y="4105656"/>
            <a:ext cx="4251960" cy="502920"/>
          </a:xfrm>
          <a:prstGeom prst="rect">
            <a:avLst/>
          </a:prstGeom>
          <a:noFill/>
        </p:spPr>
        <p:txBody>
          <a:bodyPr wrap="square">
            <a:spAutoFit/>
          </a:bodyPr>
          <a:lstStyle/>
          <a:p>
            <a:pPr algn="l"/>
            <a:r>
              <a:rPr sz="1200" b="1">
                <a:solidFill>
                  <a:srgbClr val="67717D"/>
                </a:solidFill>
                <a:latin typeface="Aptos"/>
              </a:rPr>
              <a:t>→ Investigate high-escalation zones with slower response.</a:t>
            </a:r>
          </a:p>
        </p:txBody>
      </p:sp>
      <p:sp>
        <p:nvSpPr>
          <p:cNvPr id="25" name="Oval 24"/>
          <p:cNvSpPr/>
          <p:nvPr/>
        </p:nvSpPr>
        <p:spPr>
          <a:xfrm>
            <a:off x="704088" y="5102352"/>
            <a:ext cx="438912" cy="438912"/>
          </a:xfrm>
          <a:prstGeom prst="ellipse">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 y="5157216"/>
            <a:ext cx="438912" cy="228600"/>
          </a:xfrm>
          <a:prstGeom prst="rect">
            <a:avLst/>
          </a:prstGeom>
          <a:noFill/>
        </p:spPr>
        <p:txBody>
          <a:bodyPr wrap="square">
            <a:spAutoFit/>
          </a:bodyPr>
          <a:lstStyle/>
          <a:p>
            <a:pPr algn="ctr"/>
            <a:r>
              <a:rPr sz="1100" b="1">
                <a:solidFill>
                  <a:srgbClr val="FFFFFF"/>
                </a:solidFill>
                <a:latin typeface="Aptos"/>
              </a:rPr>
              <a:t>5</a:t>
            </a:r>
          </a:p>
        </p:txBody>
      </p:sp>
      <p:sp>
        <p:nvSpPr>
          <p:cNvPr id="27" name="TextBox 26"/>
          <p:cNvSpPr txBox="1"/>
          <p:nvPr/>
        </p:nvSpPr>
        <p:spPr>
          <a:xfrm>
            <a:off x="1325880" y="5084064"/>
            <a:ext cx="1828800" cy="274320"/>
          </a:xfrm>
          <a:prstGeom prst="rect">
            <a:avLst/>
          </a:prstGeom>
          <a:noFill/>
        </p:spPr>
        <p:txBody>
          <a:bodyPr wrap="square">
            <a:spAutoFit/>
          </a:bodyPr>
          <a:lstStyle/>
          <a:p>
            <a:pPr algn="l"/>
            <a:r>
              <a:rPr sz="1300" b="1">
                <a:solidFill>
                  <a:srgbClr val="0A1830"/>
                </a:solidFill>
                <a:latin typeface="Aptos"/>
              </a:rPr>
              <a:t>Resources</a:t>
            </a:r>
          </a:p>
        </p:txBody>
      </p:sp>
      <p:sp>
        <p:nvSpPr>
          <p:cNvPr id="28" name="TextBox 27"/>
          <p:cNvSpPr txBox="1"/>
          <p:nvPr/>
        </p:nvSpPr>
        <p:spPr>
          <a:xfrm>
            <a:off x="3108960" y="5084064"/>
            <a:ext cx="4023360" cy="438912"/>
          </a:xfrm>
          <a:prstGeom prst="rect">
            <a:avLst/>
          </a:prstGeom>
          <a:noFill/>
        </p:spPr>
        <p:txBody>
          <a:bodyPr wrap="square">
            <a:spAutoFit/>
          </a:bodyPr>
          <a:lstStyle/>
          <a:p>
            <a:pPr algn="l"/>
            <a:r>
              <a:rPr sz="1200" b="0">
                <a:solidFill>
                  <a:srgbClr val="232B36"/>
                </a:solidFill>
                <a:latin typeface="Aptos"/>
              </a:rPr>
              <a:t>8 units are displayed as deployed.</a:t>
            </a:r>
          </a:p>
        </p:txBody>
      </p:sp>
      <p:sp>
        <p:nvSpPr>
          <p:cNvPr id="29" name="TextBox 28"/>
          <p:cNvSpPr txBox="1"/>
          <p:nvPr/>
        </p:nvSpPr>
        <p:spPr>
          <a:xfrm>
            <a:off x="7223760" y="5084064"/>
            <a:ext cx="4251960" cy="502920"/>
          </a:xfrm>
          <a:prstGeom prst="rect">
            <a:avLst/>
          </a:prstGeom>
          <a:noFill/>
        </p:spPr>
        <p:txBody>
          <a:bodyPr wrap="square">
            <a:spAutoFit/>
          </a:bodyPr>
          <a:lstStyle/>
          <a:p>
            <a:pPr algn="l"/>
            <a:r>
              <a:rPr sz="1200" b="1">
                <a:solidFill>
                  <a:srgbClr val="67717D"/>
                </a:solidFill>
                <a:latin typeface="Aptos"/>
              </a:rPr>
              <a:t>→ Compare actual availability/workload with risk before reallocating.</a:t>
            </a:r>
          </a:p>
        </p:txBody>
      </p:sp>
      <p:sp>
        <p:nvSpPr>
          <p:cNvPr id="30" name="TextBox 29"/>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31" name="TextBox 30"/>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02920"/>
          </a:xfrm>
          <a:prstGeom prst="rect">
            <a:avLst/>
          </a:prstGeom>
          <a:noFill/>
        </p:spPr>
        <p:txBody>
          <a:bodyPr wrap="square">
            <a:spAutoFit/>
          </a:bodyPr>
          <a:lstStyle/>
          <a:p>
            <a:pPr algn="l"/>
            <a:r>
              <a:rPr sz="2800" b="1">
                <a:solidFill>
                  <a:srgbClr val="0A1830"/>
                </a:solidFill>
                <a:latin typeface="Aptos"/>
              </a:rPr>
              <a:t>10. Evaluate Risk Handling Efficiency</a:t>
            </a:r>
          </a:p>
        </p:txBody>
      </p:sp>
      <p:sp>
        <p:nvSpPr>
          <p:cNvPr id="4" name="TextBox 3"/>
          <p:cNvSpPr txBox="1"/>
          <p:nvPr/>
        </p:nvSpPr>
        <p:spPr>
          <a:xfrm>
            <a:off x="621792" y="841248"/>
            <a:ext cx="10789920" cy="320040"/>
          </a:xfrm>
          <a:prstGeom prst="rect">
            <a:avLst/>
          </a:prstGeom>
          <a:noFill/>
        </p:spPr>
        <p:txBody>
          <a:bodyPr wrap="square">
            <a:spAutoFit/>
          </a:bodyPr>
          <a:lstStyle/>
          <a:p>
            <a:pPr algn="l"/>
            <a:r>
              <a:rPr sz="1100" b="0">
                <a:solidFill>
                  <a:srgbClr val="67717D"/>
                </a:solidFill>
                <a:latin typeface="Aptos"/>
              </a:rPr>
              <a:t>Does the dashboard lead to better decisions?</a:t>
            </a:r>
          </a:p>
        </p:txBody>
      </p:sp>
      <p:sp>
        <p:nvSpPr>
          <p:cNvPr id="5" name="TextBox 4"/>
          <p:cNvSpPr txBox="1"/>
          <p:nvPr/>
        </p:nvSpPr>
        <p:spPr>
          <a:xfrm>
            <a:off x="731520" y="1188720"/>
            <a:ext cx="10698480" cy="457200"/>
          </a:xfrm>
          <a:prstGeom prst="rect">
            <a:avLst/>
          </a:prstGeom>
          <a:noFill/>
        </p:spPr>
        <p:txBody>
          <a:bodyPr wrap="square">
            <a:spAutoFit/>
          </a:bodyPr>
          <a:lstStyle/>
          <a:p>
            <a:pPr algn="ctr"/>
            <a:r>
              <a:rPr sz="2300" b="1">
                <a:solidFill>
                  <a:srgbClr val="0A1830"/>
                </a:solidFill>
                <a:latin typeface="Aptos"/>
              </a:rPr>
              <a:t>A dashboard is efficient when it connects risk to action.</a:t>
            </a:r>
          </a:p>
        </p:txBody>
      </p:sp>
      <p:sp>
        <p:nvSpPr>
          <p:cNvPr id="6" name="Rounded Rectangle 5"/>
          <p:cNvSpPr/>
          <p:nvPr/>
        </p:nvSpPr>
        <p:spPr>
          <a:xfrm>
            <a:off x="594360" y="2148840"/>
            <a:ext cx="1664208" cy="13258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2148840"/>
            <a:ext cx="64008" cy="132588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2276856"/>
            <a:ext cx="1298448" cy="274320"/>
          </a:xfrm>
          <a:prstGeom prst="rect">
            <a:avLst/>
          </a:prstGeom>
          <a:noFill/>
        </p:spPr>
        <p:txBody>
          <a:bodyPr wrap="square">
            <a:spAutoFit/>
          </a:bodyPr>
          <a:lstStyle/>
          <a:p>
            <a:pPr algn="l"/>
            <a:r>
              <a:rPr sz="1000" b="1">
                <a:solidFill>
                  <a:srgbClr val="67717D"/>
                </a:solidFill>
                <a:latin typeface="Aptos"/>
              </a:rPr>
              <a:t>Detect</a:t>
            </a:r>
          </a:p>
        </p:txBody>
      </p:sp>
      <p:sp>
        <p:nvSpPr>
          <p:cNvPr id="9" name="TextBox 8"/>
          <p:cNvSpPr txBox="1"/>
          <p:nvPr/>
        </p:nvSpPr>
        <p:spPr>
          <a:xfrm>
            <a:off x="795528" y="2587752"/>
            <a:ext cx="1298448" cy="777240"/>
          </a:xfrm>
          <a:prstGeom prst="rect">
            <a:avLst/>
          </a:prstGeom>
          <a:noFill/>
        </p:spPr>
        <p:txBody>
          <a:bodyPr wrap="square">
            <a:spAutoFit/>
          </a:bodyPr>
          <a:lstStyle/>
          <a:p>
            <a:pPr algn="l"/>
            <a:r>
              <a:rPr sz="1100" b="0">
                <a:solidFill>
                  <a:srgbClr val="232B36"/>
                </a:solidFill>
                <a:latin typeface="Aptos"/>
              </a:rPr>
              <a:t>Incident / anomaly</a:t>
            </a:r>
          </a:p>
        </p:txBody>
      </p:sp>
      <p:sp>
        <p:nvSpPr>
          <p:cNvPr id="10" name="Rounded Rectangle 9"/>
          <p:cNvSpPr/>
          <p:nvPr/>
        </p:nvSpPr>
        <p:spPr>
          <a:xfrm>
            <a:off x="2496312" y="2148840"/>
            <a:ext cx="1664208" cy="13258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496312" y="2148840"/>
            <a:ext cx="64008" cy="1325880"/>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97480" y="2276856"/>
            <a:ext cx="1298448" cy="274320"/>
          </a:xfrm>
          <a:prstGeom prst="rect">
            <a:avLst/>
          </a:prstGeom>
          <a:noFill/>
        </p:spPr>
        <p:txBody>
          <a:bodyPr wrap="square">
            <a:spAutoFit/>
          </a:bodyPr>
          <a:lstStyle/>
          <a:p>
            <a:pPr algn="l"/>
            <a:r>
              <a:rPr sz="1000" b="1">
                <a:solidFill>
                  <a:srgbClr val="67717D"/>
                </a:solidFill>
                <a:latin typeface="Aptos"/>
              </a:rPr>
              <a:t>Locate</a:t>
            </a:r>
          </a:p>
        </p:txBody>
      </p:sp>
      <p:sp>
        <p:nvSpPr>
          <p:cNvPr id="13" name="TextBox 12"/>
          <p:cNvSpPr txBox="1"/>
          <p:nvPr/>
        </p:nvSpPr>
        <p:spPr>
          <a:xfrm>
            <a:off x="2697480" y="2587752"/>
            <a:ext cx="1298448" cy="777240"/>
          </a:xfrm>
          <a:prstGeom prst="rect">
            <a:avLst/>
          </a:prstGeom>
          <a:noFill/>
        </p:spPr>
        <p:txBody>
          <a:bodyPr wrap="square">
            <a:spAutoFit/>
          </a:bodyPr>
          <a:lstStyle/>
          <a:p>
            <a:pPr algn="l"/>
            <a:r>
              <a:rPr sz="1100" b="0">
                <a:solidFill>
                  <a:srgbClr val="232B36"/>
                </a:solidFill>
                <a:latin typeface="Aptos"/>
              </a:rPr>
              <a:t>Zone / hotspot</a:t>
            </a:r>
          </a:p>
        </p:txBody>
      </p:sp>
      <p:sp>
        <p:nvSpPr>
          <p:cNvPr id="14" name="Rounded Rectangle 13"/>
          <p:cNvSpPr/>
          <p:nvPr/>
        </p:nvSpPr>
        <p:spPr>
          <a:xfrm>
            <a:off x="4398264" y="2148840"/>
            <a:ext cx="1664208" cy="13258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98264" y="2148840"/>
            <a:ext cx="64008" cy="1325880"/>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99432" y="2276856"/>
            <a:ext cx="1298448" cy="274320"/>
          </a:xfrm>
          <a:prstGeom prst="rect">
            <a:avLst/>
          </a:prstGeom>
          <a:noFill/>
        </p:spPr>
        <p:txBody>
          <a:bodyPr wrap="square">
            <a:spAutoFit/>
          </a:bodyPr>
          <a:lstStyle/>
          <a:p>
            <a:pPr algn="l"/>
            <a:r>
              <a:rPr sz="1000" b="1">
                <a:solidFill>
                  <a:srgbClr val="67717D"/>
                </a:solidFill>
                <a:latin typeface="Aptos"/>
              </a:rPr>
              <a:t>Assess</a:t>
            </a:r>
          </a:p>
        </p:txBody>
      </p:sp>
      <p:sp>
        <p:nvSpPr>
          <p:cNvPr id="17" name="TextBox 16"/>
          <p:cNvSpPr txBox="1"/>
          <p:nvPr/>
        </p:nvSpPr>
        <p:spPr>
          <a:xfrm>
            <a:off x="4599432" y="2587752"/>
            <a:ext cx="1298448" cy="777240"/>
          </a:xfrm>
          <a:prstGeom prst="rect">
            <a:avLst/>
          </a:prstGeom>
          <a:noFill/>
        </p:spPr>
        <p:txBody>
          <a:bodyPr wrap="square">
            <a:spAutoFit/>
          </a:bodyPr>
          <a:lstStyle/>
          <a:p>
            <a:pPr algn="l"/>
            <a:r>
              <a:rPr sz="1100" b="0">
                <a:solidFill>
                  <a:srgbClr val="232B36"/>
                </a:solidFill>
                <a:latin typeface="Aptos"/>
              </a:rPr>
              <a:t>Risk tier / TSI</a:t>
            </a:r>
          </a:p>
        </p:txBody>
      </p:sp>
      <p:sp>
        <p:nvSpPr>
          <p:cNvPr id="18" name="Rounded Rectangle 17"/>
          <p:cNvSpPr/>
          <p:nvPr/>
        </p:nvSpPr>
        <p:spPr>
          <a:xfrm>
            <a:off x="6300216" y="2148840"/>
            <a:ext cx="1664208" cy="13258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0216" y="2148840"/>
            <a:ext cx="64008" cy="1325880"/>
          </a:xfrm>
          <a:prstGeom prst="rect">
            <a:avLst/>
          </a:prstGeom>
          <a:solidFill>
            <a:srgbClr val="EE7E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01384" y="2276856"/>
            <a:ext cx="1298448" cy="274320"/>
          </a:xfrm>
          <a:prstGeom prst="rect">
            <a:avLst/>
          </a:prstGeom>
          <a:noFill/>
        </p:spPr>
        <p:txBody>
          <a:bodyPr wrap="square">
            <a:spAutoFit/>
          </a:bodyPr>
          <a:lstStyle/>
          <a:p>
            <a:pPr algn="l"/>
            <a:r>
              <a:rPr sz="1000" b="1">
                <a:solidFill>
                  <a:srgbClr val="67717D"/>
                </a:solidFill>
                <a:latin typeface="Aptos"/>
              </a:rPr>
              <a:t>Respond</a:t>
            </a:r>
          </a:p>
        </p:txBody>
      </p:sp>
      <p:sp>
        <p:nvSpPr>
          <p:cNvPr id="21" name="TextBox 20"/>
          <p:cNvSpPr txBox="1"/>
          <p:nvPr/>
        </p:nvSpPr>
        <p:spPr>
          <a:xfrm>
            <a:off x="6501384" y="2587752"/>
            <a:ext cx="1298448" cy="777240"/>
          </a:xfrm>
          <a:prstGeom prst="rect">
            <a:avLst/>
          </a:prstGeom>
          <a:noFill/>
        </p:spPr>
        <p:txBody>
          <a:bodyPr wrap="square">
            <a:spAutoFit/>
          </a:bodyPr>
          <a:lstStyle/>
          <a:p>
            <a:pPr algn="l"/>
            <a:r>
              <a:rPr sz="1100" b="0">
                <a:solidFill>
                  <a:srgbClr val="232B36"/>
                </a:solidFill>
                <a:latin typeface="Aptos"/>
              </a:rPr>
              <a:t>Response / SLA</a:t>
            </a:r>
          </a:p>
        </p:txBody>
      </p:sp>
      <p:sp>
        <p:nvSpPr>
          <p:cNvPr id="22" name="Rounded Rectangle 21"/>
          <p:cNvSpPr/>
          <p:nvPr/>
        </p:nvSpPr>
        <p:spPr>
          <a:xfrm>
            <a:off x="8202168" y="2148840"/>
            <a:ext cx="1664208" cy="13258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202168" y="2148840"/>
            <a:ext cx="64008" cy="1325880"/>
          </a:xfrm>
          <a:prstGeom prst="rect">
            <a:avLst/>
          </a:prstGeom>
          <a:solidFill>
            <a:srgbClr val="23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03336" y="2276856"/>
            <a:ext cx="1298448" cy="274320"/>
          </a:xfrm>
          <a:prstGeom prst="rect">
            <a:avLst/>
          </a:prstGeom>
          <a:noFill/>
        </p:spPr>
        <p:txBody>
          <a:bodyPr wrap="square">
            <a:spAutoFit/>
          </a:bodyPr>
          <a:lstStyle/>
          <a:p>
            <a:pPr algn="l"/>
            <a:r>
              <a:rPr sz="1000" b="1">
                <a:solidFill>
                  <a:srgbClr val="67717D"/>
                </a:solidFill>
                <a:latin typeface="Aptos"/>
              </a:rPr>
              <a:t>Deploy</a:t>
            </a:r>
          </a:p>
        </p:txBody>
      </p:sp>
      <p:sp>
        <p:nvSpPr>
          <p:cNvPr id="25" name="TextBox 24"/>
          <p:cNvSpPr txBox="1"/>
          <p:nvPr/>
        </p:nvSpPr>
        <p:spPr>
          <a:xfrm>
            <a:off x="8403336" y="2587752"/>
            <a:ext cx="1298448" cy="777240"/>
          </a:xfrm>
          <a:prstGeom prst="rect">
            <a:avLst/>
          </a:prstGeom>
          <a:noFill/>
        </p:spPr>
        <p:txBody>
          <a:bodyPr wrap="square">
            <a:spAutoFit/>
          </a:bodyPr>
          <a:lstStyle/>
          <a:p>
            <a:pPr algn="l"/>
            <a:r>
              <a:rPr sz="1100" b="0">
                <a:solidFill>
                  <a:srgbClr val="232B36"/>
                </a:solidFill>
                <a:latin typeface="Aptos"/>
              </a:rPr>
              <a:t>Resource allocation</a:t>
            </a:r>
          </a:p>
        </p:txBody>
      </p:sp>
      <p:sp>
        <p:nvSpPr>
          <p:cNvPr id="26" name="Rounded Rectangle 25"/>
          <p:cNvSpPr/>
          <p:nvPr/>
        </p:nvSpPr>
        <p:spPr>
          <a:xfrm>
            <a:off x="10104120" y="2148840"/>
            <a:ext cx="1664208" cy="1325880"/>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0104120" y="2148840"/>
            <a:ext cx="64008" cy="132588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305288" y="2276856"/>
            <a:ext cx="1298448" cy="274320"/>
          </a:xfrm>
          <a:prstGeom prst="rect">
            <a:avLst/>
          </a:prstGeom>
          <a:noFill/>
        </p:spPr>
        <p:txBody>
          <a:bodyPr wrap="square">
            <a:spAutoFit/>
          </a:bodyPr>
          <a:lstStyle/>
          <a:p>
            <a:pPr algn="l"/>
            <a:r>
              <a:rPr sz="1000" b="1">
                <a:solidFill>
                  <a:srgbClr val="67717D"/>
                </a:solidFill>
                <a:latin typeface="Aptos"/>
              </a:rPr>
              <a:t>Review</a:t>
            </a:r>
          </a:p>
        </p:txBody>
      </p:sp>
      <p:sp>
        <p:nvSpPr>
          <p:cNvPr id="29" name="TextBox 28"/>
          <p:cNvSpPr txBox="1"/>
          <p:nvPr/>
        </p:nvSpPr>
        <p:spPr>
          <a:xfrm>
            <a:off x="10305288" y="2587752"/>
            <a:ext cx="1298448" cy="777240"/>
          </a:xfrm>
          <a:prstGeom prst="rect">
            <a:avLst/>
          </a:prstGeom>
          <a:noFill/>
        </p:spPr>
        <p:txBody>
          <a:bodyPr wrap="square">
            <a:spAutoFit/>
          </a:bodyPr>
          <a:lstStyle/>
          <a:p>
            <a:pPr algn="l"/>
            <a:r>
              <a:rPr sz="1100" b="0">
                <a:solidFill>
                  <a:srgbClr val="232B36"/>
                </a:solidFill>
                <a:latin typeface="Aptos"/>
              </a:rPr>
              <a:t>Outcome / KPI</a:t>
            </a:r>
          </a:p>
        </p:txBody>
      </p:sp>
      <p:sp>
        <p:nvSpPr>
          <p:cNvPr id="30" name="TextBox 29"/>
          <p:cNvSpPr txBox="1"/>
          <p:nvPr/>
        </p:nvSpPr>
        <p:spPr>
          <a:xfrm>
            <a:off x="731520" y="4069080"/>
            <a:ext cx="2743200" cy="274320"/>
          </a:xfrm>
          <a:prstGeom prst="rect">
            <a:avLst/>
          </a:prstGeom>
          <a:noFill/>
        </p:spPr>
        <p:txBody>
          <a:bodyPr wrap="square">
            <a:spAutoFit/>
          </a:bodyPr>
          <a:lstStyle/>
          <a:p>
            <a:pPr algn="l"/>
            <a:r>
              <a:rPr sz="1500" b="1">
                <a:solidFill>
                  <a:srgbClr val="0A1830"/>
                </a:solidFill>
                <a:latin typeface="Aptos"/>
              </a:rPr>
              <a:t>Efficiency indicators</a:t>
            </a:r>
          </a:p>
        </p:txBody>
      </p:sp>
      <p:sp>
        <p:nvSpPr>
          <p:cNvPr id="31" name="TextBox 30"/>
          <p:cNvSpPr txBox="1"/>
          <p:nvPr/>
        </p:nvSpPr>
        <p:spPr>
          <a:xfrm>
            <a:off x="731520" y="4434840"/>
            <a:ext cx="10607040" cy="1600200"/>
          </a:xfrm>
          <a:prstGeom prst="rect">
            <a:avLst/>
          </a:prstGeom>
          <a:noFill/>
        </p:spPr>
        <p:txBody>
          <a:bodyPr wrap="square">
            <a:spAutoFit/>
          </a:bodyPr>
          <a:lstStyle/>
          <a:p>
            <a:pPr>
              <a:spcAft>
                <a:spcPts val="800"/>
              </a:spcAft>
              <a:defRPr sz="1400">
                <a:solidFill>
                  <a:srgbClr val="232B36"/>
                </a:solidFill>
                <a:latin typeface="Aptos"/>
              </a:defRPr>
            </a:pPr>
            <a:r>
              <a:t>• High-risk zones receive proportionally higher attention.</a:t>
            </a:r>
          </a:p>
          <a:p>
            <a:pPr>
              <a:spcAft>
                <a:spcPts val="800"/>
              </a:spcAft>
              <a:defRPr sz="1400">
                <a:solidFill>
                  <a:srgbClr val="232B36"/>
                </a:solidFill>
                <a:latin typeface="Aptos"/>
              </a:defRPr>
            </a:pPr>
            <a:r>
              <a:t>• Response times remain within defined targets.</a:t>
            </a:r>
          </a:p>
          <a:p>
            <a:pPr>
              <a:spcAft>
                <a:spcPts val="800"/>
              </a:spcAft>
              <a:defRPr sz="1400">
                <a:solidFill>
                  <a:srgbClr val="232B36"/>
                </a:solidFill>
                <a:latin typeface="Aptos"/>
              </a:defRPr>
            </a:pPr>
            <a:r>
              <a:t>• SLA breaches are identified quickly.</a:t>
            </a:r>
          </a:p>
          <a:p>
            <a:pPr>
              <a:spcAft>
                <a:spcPts val="800"/>
              </a:spcAft>
              <a:defRPr sz="1400">
                <a:solidFill>
                  <a:srgbClr val="232B36"/>
                </a:solidFill>
                <a:latin typeface="Aptos"/>
              </a:defRPr>
            </a:pPr>
            <a:r>
              <a:t>• Resources are not concentrated in low-risk areas while high-risk zones lack coverage.</a:t>
            </a:r>
          </a:p>
          <a:p>
            <a:pPr>
              <a:spcAft>
                <a:spcPts val="800"/>
              </a:spcAft>
              <a:defRPr sz="1400">
                <a:solidFill>
                  <a:srgbClr val="232B36"/>
                </a:solidFill>
                <a:latin typeface="Aptos"/>
              </a:defRPr>
            </a:pPr>
            <a:r>
              <a:t>• Hotspots and anomalies lead to documented investigation/actions.</a:t>
            </a:r>
          </a:p>
        </p:txBody>
      </p:sp>
      <p:sp>
        <p:nvSpPr>
          <p:cNvPr id="32" name="TextBox 31"/>
          <p:cNvSpPr txBox="1"/>
          <p:nvPr/>
        </p:nvSpPr>
        <p:spPr>
          <a:xfrm>
            <a:off x="594360" y="6519672"/>
            <a:ext cx="8229600" cy="182880"/>
          </a:xfrm>
          <a:prstGeom prst="rect">
            <a:avLst/>
          </a:prstGeom>
          <a:noFill/>
        </p:spPr>
        <p:txBody>
          <a:bodyPr wrap="square">
            <a:spAutoFit/>
          </a:bodyPr>
          <a:lstStyle/>
          <a:p>
            <a:pPr algn="l"/>
            <a:r>
              <a:rPr sz="900" b="0">
                <a:solidFill>
                  <a:srgbClr val="67717D"/>
                </a:solidFill>
                <a:latin typeface="Aptos"/>
              </a:rPr>
              <a:t>Milestone 3 | Geospatial Intelligence &amp; Response Analytics</a:t>
            </a:r>
          </a:p>
        </p:txBody>
      </p:sp>
      <p:sp>
        <p:nvSpPr>
          <p:cNvPr id="33" name="TextBox 32"/>
          <p:cNvSpPr txBox="1"/>
          <p:nvPr/>
        </p:nvSpPr>
        <p:spPr>
          <a:xfrm>
            <a:off x="11155680" y="6519672"/>
            <a:ext cx="365760" cy="182880"/>
          </a:xfrm>
          <a:prstGeom prst="rect">
            <a:avLst/>
          </a:prstGeom>
          <a:noFill/>
        </p:spPr>
        <p:txBody>
          <a:bodyPr wrap="square">
            <a:spAutoFit/>
          </a:bodyPr>
          <a:lstStyle/>
          <a:p>
            <a:pPr algn="r"/>
            <a:r>
              <a:rPr sz="900" b="1">
                <a:solidFill>
                  <a:srgbClr val="67717D"/>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25"/>
            <a:ext cx="12191695" cy="6858000"/>
          </a:xfrm>
          <a:prstGeom prst="rect">
            <a:avLst/>
          </a:prstGeom>
          <a:solidFill>
            <a:srgbClr val="0A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10789920" cy="502920"/>
          </a:xfrm>
          <a:prstGeom prst="rect">
            <a:avLst/>
          </a:prstGeom>
          <a:noFill/>
        </p:spPr>
        <p:txBody>
          <a:bodyPr wrap="square">
            <a:spAutoFit/>
          </a:bodyPr>
          <a:lstStyle/>
          <a:p>
            <a:pPr algn="l"/>
            <a:r>
              <a:rPr sz="2900" b="1">
                <a:solidFill>
                  <a:srgbClr val="FFFFFF"/>
                </a:solidFill>
                <a:latin typeface="Aptos"/>
              </a:rPr>
              <a:t>Milestone 3 — Final Decision Framework</a:t>
            </a:r>
          </a:p>
        </p:txBody>
      </p:sp>
      <p:sp>
        <p:nvSpPr>
          <p:cNvPr id="4" name="Rounded Rectangle 3"/>
          <p:cNvSpPr/>
          <p:nvPr/>
        </p:nvSpPr>
        <p:spPr>
          <a:xfrm>
            <a:off x="640080" y="1691640"/>
            <a:ext cx="2578608" cy="1874519"/>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91640"/>
            <a:ext cx="64008" cy="1874519"/>
          </a:xfrm>
          <a:prstGeom prst="rect">
            <a:avLst/>
          </a:prstGeom>
          <a:solidFill>
            <a:srgbClr val="36B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819656"/>
            <a:ext cx="2212848" cy="274320"/>
          </a:xfrm>
          <a:prstGeom prst="rect">
            <a:avLst/>
          </a:prstGeom>
          <a:noFill/>
        </p:spPr>
        <p:txBody>
          <a:bodyPr wrap="square">
            <a:spAutoFit/>
          </a:bodyPr>
          <a:lstStyle/>
          <a:p>
            <a:pPr algn="l"/>
            <a:r>
              <a:rPr sz="1000" b="1">
                <a:solidFill>
                  <a:srgbClr val="67717D"/>
                </a:solidFill>
                <a:latin typeface="Aptos"/>
              </a:rPr>
              <a:t>WHERE?</a:t>
            </a:r>
          </a:p>
        </p:txBody>
      </p:sp>
      <p:sp>
        <p:nvSpPr>
          <p:cNvPr id="7" name="TextBox 6"/>
          <p:cNvSpPr txBox="1"/>
          <p:nvPr/>
        </p:nvSpPr>
        <p:spPr>
          <a:xfrm>
            <a:off x="841247" y="2130552"/>
            <a:ext cx="2212848" cy="384048"/>
          </a:xfrm>
          <a:prstGeom prst="rect">
            <a:avLst/>
          </a:prstGeom>
          <a:noFill/>
        </p:spPr>
        <p:txBody>
          <a:bodyPr wrap="square">
            <a:spAutoFit/>
          </a:bodyPr>
          <a:lstStyle/>
          <a:p>
            <a:pPr algn="l"/>
            <a:r>
              <a:rPr sz="2300" b="1">
                <a:solidFill>
                  <a:srgbClr val="0A1830"/>
                </a:solidFill>
                <a:latin typeface="Aptos"/>
              </a:rPr>
              <a:t>Hotspot map</a:t>
            </a:r>
          </a:p>
        </p:txBody>
      </p:sp>
      <p:sp>
        <p:nvSpPr>
          <p:cNvPr id="8" name="TextBox 7"/>
          <p:cNvSpPr txBox="1"/>
          <p:nvPr/>
        </p:nvSpPr>
        <p:spPr>
          <a:xfrm>
            <a:off x="841247" y="2606040"/>
            <a:ext cx="2212848" cy="868679"/>
          </a:xfrm>
          <a:prstGeom prst="rect">
            <a:avLst/>
          </a:prstGeom>
          <a:noFill/>
        </p:spPr>
        <p:txBody>
          <a:bodyPr wrap="square">
            <a:spAutoFit/>
          </a:bodyPr>
          <a:lstStyle/>
          <a:p>
            <a:pPr algn="l"/>
            <a:r>
              <a:rPr sz="1100" b="0">
                <a:solidFill>
                  <a:srgbClr val="232B36"/>
                </a:solidFill>
                <a:latin typeface="Aptos"/>
              </a:rPr>
              <a:t>Identify threat concentration</a:t>
            </a:r>
          </a:p>
        </p:txBody>
      </p:sp>
      <p:sp>
        <p:nvSpPr>
          <p:cNvPr id="9" name="Rounded Rectangle 8"/>
          <p:cNvSpPr/>
          <p:nvPr/>
        </p:nvSpPr>
        <p:spPr>
          <a:xfrm>
            <a:off x="3474720" y="1691640"/>
            <a:ext cx="2578608" cy="1874519"/>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74720" y="1691640"/>
            <a:ext cx="64008" cy="1874519"/>
          </a:xfrm>
          <a:prstGeom prst="rect">
            <a:avLst/>
          </a:prstGeom>
          <a:solidFill>
            <a:srgbClr val="D23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75887" y="1819656"/>
            <a:ext cx="2212848" cy="274320"/>
          </a:xfrm>
          <a:prstGeom prst="rect">
            <a:avLst/>
          </a:prstGeom>
          <a:noFill/>
        </p:spPr>
        <p:txBody>
          <a:bodyPr wrap="square">
            <a:spAutoFit/>
          </a:bodyPr>
          <a:lstStyle/>
          <a:p>
            <a:pPr algn="l"/>
            <a:r>
              <a:rPr sz="1000" b="1">
                <a:solidFill>
                  <a:srgbClr val="67717D"/>
                </a:solidFill>
                <a:latin typeface="Aptos"/>
              </a:rPr>
              <a:t>HOW RISKY?</a:t>
            </a:r>
          </a:p>
        </p:txBody>
      </p:sp>
      <p:sp>
        <p:nvSpPr>
          <p:cNvPr id="12" name="TextBox 11"/>
          <p:cNvSpPr txBox="1"/>
          <p:nvPr/>
        </p:nvSpPr>
        <p:spPr>
          <a:xfrm>
            <a:off x="3675887" y="2130552"/>
            <a:ext cx="2212848" cy="384048"/>
          </a:xfrm>
          <a:prstGeom prst="rect">
            <a:avLst/>
          </a:prstGeom>
          <a:noFill/>
        </p:spPr>
        <p:txBody>
          <a:bodyPr wrap="square">
            <a:spAutoFit/>
          </a:bodyPr>
          <a:lstStyle/>
          <a:p>
            <a:pPr algn="l"/>
            <a:r>
              <a:rPr sz="2300" b="1">
                <a:solidFill>
                  <a:srgbClr val="0A1830"/>
                </a:solidFill>
                <a:latin typeface="Aptos"/>
              </a:rPr>
              <a:t>Risk surface</a:t>
            </a:r>
          </a:p>
        </p:txBody>
      </p:sp>
      <p:sp>
        <p:nvSpPr>
          <p:cNvPr id="13" name="TextBox 12"/>
          <p:cNvSpPr txBox="1"/>
          <p:nvPr/>
        </p:nvSpPr>
        <p:spPr>
          <a:xfrm>
            <a:off x="3675887" y="2606040"/>
            <a:ext cx="2212848" cy="868679"/>
          </a:xfrm>
          <a:prstGeom prst="rect">
            <a:avLst/>
          </a:prstGeom>
          <a:noFill/>
        </p:spPr>
        <p:txBody>
          <a:bodyPr wrap="square">
            <a:spAutoFit/>
          </a:bodyPr>
          <a:lstStyle/>
          <a:p>
            <a:pPr algn="l"/>
            <a:r>
              <a:rPr sz="1100" b="0">
                <a:solidFill>
                  <a:srgbClr val="232B36"/>
                </a:solidFill>
                <a:latin typeface="Aptos"/>
              </a:rPr>
              <a:t>Prioritize Critical/High exposure</a:t>
            </a:r>
          </a:p>
        </p:txBody>
      </p:sp>
      <p:sp>
        <p:nvSpPr>
          <p:cNvPr id="14" name="Rounded Rectangle 13"/>
          <p:cNvSpPr/>
          <p:nvPr/>
        </p:nvSpPr>
        <p:spPr>
          <a:xfrm>
            <a:off x="6309360" y="1691640"/>
            <a:ext cx="2578608" cy="1874519"/>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60" y="1691640"/>
            <a:ext cx="64008" cy="1874519"/>
          </a:xfrm>
          <a:prstGeom prst="rect">
            <a:avLst/>
          </a:prstGeom>
          <a:solidFill>
            <a:srgbClr val="EE7E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10528" y="1819656"/>
            <a:ext cx="2212848" cy="274320"/>
          </a:xfrm>
          <a:prstGeom prst="rect">
            <a:avLst/>
          </a:prstGeom>
          <a:noFill/>
        </p:spPr>
        <p:txBody>
          <a:bodyPr wrap="square">
            <a:spAutoFit/>
          </a:bodyPr>
          <a:lstStyle/>
          <a:p>
            <a:pPr algn="l"/>
            <a:r>
              <a:rPr sz="1000" b="1">
                <a:solidFill>
                  <a:srgbClr val="67717D"/>
                </a:solidFill>
                <a:latin typeface="Aptos"/>
              </a:rPr>
              <a:t>HOW RESPONDING?</a:t>
            </a:r>
          </a:p>
        </p:txBody>
      </p:sp>
      <p:sp>
        <p:nvSpPr>
          <p:cNvPr id="17" name="TextBox 16"/>
          <p:cNvSpPr txBox="1"/>
          <p:nvPr/>
        </p:nvSpPr>
        <p:spPr>
          <a:xfrm>
            <a:off x="6510528" y="2130552"/>
            <a:ext cx="2212848" cy="384048"/>
          </a:xfrm>
          <a:prstGeom prst="rect">
            <a:avLst/>
          </a:prstGeom>
          <a:noFill/>
        </p:spPr>
        <p:txBody>
          <a:bodyPr wrap="square">
            <a:spAutoFit/>
          </a:bodyPr>
          <a:lstStyle/>
          <a:p>
            <a:pPr algn="l"/>
            <a:r>
              <a:rPr sz="2300" b="1">
                <a:solidFill>
                  <a:srgbClr val="0A1830"/>
                </a:solidFill>
                <a:latin typeface="Aptos"/>
              </a:rPr>
              <a:t>Response KPIs</a:t>
            </a:r>
          </a:p>
        </p:txBody>
      </p:sp>
      <p:sp>
        <p:nvSpPr>
          <p:cNvPr id="18" name="TextBox 17"/>
          <p:cNvSpPr txBox="1"/>
          <p:nvPr/>
        </p:nvSpPr>
        <p:spPr>
          <a:xfrm>
            <a:off x="6510528" y="2606040"/>
            <a:ext cx="2212848" cy="868679"/>
          </a:xfrm>
          <a:prstGeom prst="rect">
            <a:avLst/>
          </a:prstGeom>
          <a:noFill/>
        </p:spPr>
        <p:txBody>
          <a:bodyPr wrap="square">
            <a:spAutoFit/>
          </a:bodyPr>
          <a:lstStyle/>
          <a:p>
            <a:pPr algn="l"/>
            <a:r>
              <a:rPr sz="1100" b="0">
                <a:solidFill>
                  <a:srgbClr val="232B36"/>
                </a:solidFill>
                <a:latin typeface="Aptos"/>
              </a:rPr>
              <a:t>Track speed, SLA &amp; escalation</a:t>
            </a:r>
          </a:p>
        </p:txBody>
      </p:sp>
      <p:sp>
        <p:nvSpPr>
          <p:cNvPr id="19" name="Rounded Rectangle 18"/>
          <p:cNvSpPr/>
          <p:nvPr/>
        </p:nvSpPr>
        <p:spPr>
          <a:xfrm>
            <a:off x="9144000" y="1691640"/>
            <a:ext cx="2578608" cy="1874519"/>
          </a:xfrm>
          <a:prstGeom prst="roundRect">
            <a:avLst/>
          </a:prstGeom>
          <a:solidFill>
            <a:srgbClr val="FFFFFF"/>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144000" y="1691640"/>
            <a:ext cx="64008" cy="1874519"/>
          </a:xfrm>
          <a:prstGeom prst="rect">
            <a:avLst/>
          </a:prstGeom>
          <a:solidFill>
            <a:srgbClr val="23A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45168" y="1819656"/>
            <a:ext cx="2212848" cy="274320"/>
          </a:xfrm>
          <a:prstGeom prst="rect">
            <a:avLst/>
          </a:prstGeom>
          <a:noFill/>
        </p:spPr>
        <p:txBody>
          <a:bodyPr wrap="square">
            <a:spAutoFit/>
          </a:bodyPr>
          <a:lstStyle/>
          <a:p>
            <a:pPr algn="l"/>
            <a:r>
              <a:rPr sz="1000" b="1">
                <a:solidFill>
                  <a:srgbClr val="67717D"/>
                </a:solidFill>
                <a:latin typeface="Aptos"/>
              </a:rPr>
              <a:t>RESOURCES?</a:t>
            </a:r>
          </a:p>
        </p:txBody>
      </p:sp>
      <p:sp>
        <p:nvSpPr>
          <p:cNvPr id="22" name="TextBox 21"/>
          <p:cNvSpPr txBox="1"/>
          <p:nvPr/>
        </p:nvSpPr>
        <p:spPr>
          <a:xfrm>
            <a:off x="9345168" y="2130552"/>
            <a:ext cx="2212848" cy="384048"/>
          </a:xfrm>
          <a:prstGeom prst="rect">
            <a:avLst/>
          </a:prstGeom>
          <a:noFill/>
        </p:spPr>
        <p:txBody>
          <a:bodyPr wrap="square">
            <a:spAutoFit/>
          </a:bodyPr>
          <a:lstStyle/>
          <a:p>
            <a:pPr algn="l"/>
            <a:r>
              <a:rPr sz="2300" b="1">
                <a:solidFill>
                  <a:srgbClr val="0A1830"/>
                </a:solidFill>
                <a:latin typeface="Aptos"/>
              </a:rPr>
              <a:t>Deployment matrix</a:t>
            </a:r>
          </a:p>
        </p:txBody>
      </p:sp>
      <p:sp>
        <p:nvSpPr>
          <p:cNvPr id="23" name="TextBox 22"/>
          <p:cNvSpPr txBox="1"/>
          <p:nvPr/>
        </p:nvSpPr>
        <p:spPr>
          <a:xfrm>
            <a:off x="9345168" y="2880360"/>
            <a:ext cx="2212848" cy="868679"/>
          </a:xfrm>
          <a:prstGeom prst="rect">
            <a:avLst/>
          </a:prstGeom>
          <a:noFill/>
        </p:spPr>
        <p:txBody>
          <a:bodyPr wrap="square">
            <a:spAutoFit/>
          </a:bodyPr>
          <a:lstStyle/>
          <a:p>
            <a:pPr algn="l"/>
            <a:r>
              <a:rPr sz="1100" b="0" dirty="0">
                <a:solidFill>
                  <a:srgbClr val="232B36"/>
                </a:solidFill>
                <a:latin typeface="Aptos"/>
              </a:rPr>
              <a:t>Match resources to risk &amp; workload</a:t>
            </a:r>
          </a:p>
        </p:txBody>
      </p:sp>
      <p:sp>
        <p:nvSpPr>
          <p:cNvPr id="24" name="TextBox 23"/>
          <p:cNvSpPr txBox="1"/>
          <p:nvPr/>
        </p:nvSpPr>
        <p:spPr>
          <a:xfrm>
            <a:off x="731520" y="4160520"/>
            <a:ext cx="2286000" cy="320040"/>
          </a:xfrm>
          <a:prstGeom prst="rect">
            <a:avLst/>
          </a:prstGeom>
          <a:noFill/>
        </p:spPr>
        <p:txBody>
          <a:bodyPr wrap="square">
            <a:spAutoFit/>
          </a:bodyPr>
          <a:lstStyle/>
          <a:p>
            <a:pPr algn="l"/>
            <a:r>
              <a:rPr sz="1400" b="1">
                <a:solidFill>
                  <a:srgbClr val="36B8E0"/>
                </a:solidFill>
                <a:latin typeface="Aptos"/>
              </a:rPr>
              <a:t>Final takeaway</a:t>
            </a:r>
          </a:p>
        </p:txBody>
      </p:sp>
      <p:sp>
        <p:nvSpPr>
          <p:cNvPr id="25" name="TextBox 24"/>
          <p:cNvSpPr txBox="1"/>
          <p:nvPr/>
        </p:nvSpPr>
        <p:spPr>
          <a:xfrm>
            <a:off x="731520" y="4617720"/>
            <a:ext cx="10698480" cy="914400"/>
          </a:xfrm>
          <a:prstGeom prst="rect">
            <a:avLst/>
          </a:prstGeom>
          <a:noFill/>
        </p:spPr>
        <p:txBody>
          <a:bodyPr wrap="square">
            <a:spAutoFit/>
          </a:bodyPr>
          <a:lstStyle/>
          <a:p>
            <a:pPr algn="ctr"/>
            <a:r>
              <a:rPr sz="1900" b="1">
                <a:solidFill>
                  <a:srgbClr val="FFFFFF"/>
                </a:solidFill>
                <a:latin typeface="Aptos"/>
              </a:rPr>
              <a:t>The objective is not only to count incidents. It is to identify where threats are concentrated, determine how risky they are, measure how effectively we respond, and ensure resources are deployed where they are most needed.</a:t>
            </a:r>
          </a:p>
        </p:txBody>
      </p:sp>
      <p:sp>
        <p:nvSpPr>
          <p:cNvPr id="26" name="TextBox 25"/>
          <p:cNvSpPr txBox="1"/>
          <p:nvPr/>
        </p:nvSpPr>
        <p:spPr>
          <a:xfrm>
            <a:off x="868680" y="5897880"/>
            <a:ext cx="10332720" cy="411480"/>
          </a:xfrm>
          <a:prstGeom prst="rect">
            <a:avLst/>
          </a:prstGeom>
          <a:noFill/>
        </p:spPr>
        <p:txBody>
          <a:bodyPr wrap="square">
            <a:spAutoFit/>
          </a:bodyPr>
          <a:lstStyle/>
          <a:p>
            <a:pPr algn="ctr"/>
            <a:r>
              <a:rPr sz="1100" b="0">
                <a:solidFill>
                  <a:srgbClr val="BECFE4"/>
                </a:solidFill>
                <a:latin typeface="Aptos"/>
              </a:rPr>
              <a:t>Data validation remains essential before operational decisions: geography, timestamps, SLA definitions and resource counts must match the source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TotalTime>
  <Words>1233</Words>
  <Application>Microsoft Office PowerPoint</Application>
  <PresentationFormat>Widescreen</PresentationFormat>
  <Paragraphs>262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Google Sans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Neeraj Sharma</cp:lastModifiedBy>
  <cp:revision>10</cp:revision>
  <dcterms:created xsi:type="dcterms:W3CDTF">2013-01-27T09:14:16Z</dcterms:created>
  <dcterms:modified xsi:type="dcterms:W3CDTF">2026-08-21T14:14:45Z</dcterms:modified>
  <cp:category/>
</cp:coreProperties>
</file>