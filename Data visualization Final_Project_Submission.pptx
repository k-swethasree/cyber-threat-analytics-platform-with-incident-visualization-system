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B6E0E-A7AC-465B-8B9C-9410B18D2AFD}" type="datetimeFigureOut">
              <a:rPr lang="en-US" smtClean="0"/>
              <a:t>16-Sep-26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6FDE5-3A7D-4FE2-9B3B-EC909C33C5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8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058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14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SUBMISSION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2926080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oogle Sans"/>
              </a:rPr>
              <a:t>Cyber Threat Analytics platform with incident Visualization System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097280" y="4160520"/>
            <a:ext cx="999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Milestones 1–4  ·  Data Integration → Temporal Analytics → Geospatial Intelligence → Executive Risk Analytics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84648" y="4800600"/>
            <a:ext cx="1828800" cy="0"/>
          </a:xfrm>
          <a:prstGeom prst="line">
            <a:avLst/>
          </a:prstGeom>
          <a:noFill/>
          <a:ln w="12700">
            <a:solidFill>
              <a:srgbClr val="232D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9834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Team </a:t>
            </a:r>
            <a:r>
              <a:rPr lang="en-US" sz="1250" dirty="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Neeraj Sharma, Abhishek, Vaishnavi, Swetha, </a:t>
            </a:r>
            <a:r>
              <a:rPr lang="en-US" sz="1250" dirty="0" err="1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Akanksha</a:t>
            </a:r>
            <a:r>
              <a:rPr lang="en-US" sz="1250" dirty="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250" dirty="0" err="1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Ritika</a:t>
            </a:r>
            <a:r>
              <a:rPr lang="en-US" sz="1250" dirty="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0" y="53035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Mr. Sughandar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Disconnected Data to Risk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milestones, one continuous pipeline — turning 5 siloed source systems into a forecasting-capable security dashboard.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Modeled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Sources Integrated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42816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+ 5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15968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+ Dimension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58.70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63056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Threat Severity 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36992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10144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Rate (Z-Score)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1920240"/>
            <a:ext cx="1709928" cy="1234440"/>
          </a:xfrm>
          <a:prstGeom prst="roundRect">
            <a:avLst>
              <a:gd name="adj" fmla="val 5926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2084832"/>
            <a:ext cx="1709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72.22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57232" y="2633472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TSI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</a:t>
            </a:r>
            <a:r>
              <a:rPr lang="en-US" sz="13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data arrived from 5 disconnected systems, each with its own format, key structure, and quality profile — making it impossible to get one reliable view of security activity.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</a:t>
            </a:r>
            <a:r>
              <a:rPr lang="en-US" sz="13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validated star-schema data model, layered with temporal trend analysis, statistical anomaly detection, geospatial hotspot mapping, and an 8-week predictive risk forecast — delivered as a live, filterable Power BI dashboard suite.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4-Milestone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milestone builds directly on the data model and insights from the one before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21826"/>
          </a:solidFill>
          <a:ln w="15240">
            <a:solidFill>
              <a:srgbClr val="2DD9C4"/>
            </a:solidFill>
            <a:prstDash val="solid"/>
          </a:ln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606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Integration &amp;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Modeling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72968" y="356616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7472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21826"/>
          </a:solidFill>
          <a:ln w="15240">
            <a:solidFill>
              <a:srgbClr val="2DD9C4"/>
            </a:solidFill>
            <a:prstDash val="solid"/>
          </a:ln>
        </p:spPr>
      </p:sp>
      <p:pic>
        <p:nvPicPr>
          <p:cNvPr id="12" name="Image 1" descr="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6060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36576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Intelligence &amp;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Analytics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007608" y="356616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30936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21826"/>
          </a:solidFill>
          <a:ln w="15240">
            <a:solidFill>
              <a:srgbClr val="2DD9C4"/>
            </a:solidFill>
            <a:prstDash val="solid"/>
          </a:ln>
        </p:spPr>
      </p:sp>
      <p:pic>
        <p:nvPicPr>
          <p:cNvPr id="18" name="Image 2" descr="icons/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6060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46520" y="36576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Intelligence &amp;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Analytics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5–6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842248" y="356616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144000" y="228600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21826"/>
          </a:solidFill>
          <a:ln w="15240">
            <a:solidFill>
              <a:srgbClr val="2DD9C4"/>
            </a:solidFill>
            <a:prstDash val="solid"/>
          </a:ln>
        </p:spPr>
      </p:sp>
      <p:pic>
        <p:nvPicPr>
          <p:cNvPr id="24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260604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3337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81160" y="36576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Intelligence &amp;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Analytics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235440" y="4663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7–8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chain: Incidents  →  Trends &amp; Anomalies  →  Location &amp; Risk  →  Forecast &amp; Executive Action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 ·  WEEKS 1–2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Integration &amp; Incident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disconnected raw sources → 1 validated star schema, cleaned and standardized from scratch.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85216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96539"/>
            <a:ext cx="5486400" cy="3362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965960"/>
            <a:ext cx="4983480" cy="4023360"/>
          </a:xfrm>
          <a:prstGeom prst="roundRect">
            <a:avLst>
              <a:gd name="adj" fmla="val 1818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216712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03720" y="2514600"/>
            <a:ext cx="4434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5 raw sources integrated: Incident Logs, Operational Data, Environmental Feeds, External Threat Feeds, Geo Metadata.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21 inconsistent category labels standardized into 5 clean threat types.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3 mixed date formats parsed into 1 consistent datetime field.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Star schema built: 1 Fact_Incident table + 5 dimension tables, all relationships validated.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Cleaning pipeline built and run end-to-end in a custom Jupyter notebook — 0 missing values, 0 duplicates confirmed in the final output.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Cleaning Process — Shown, Not Just Claimed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raw data, a real notebook, real validation output — built and run independently by the team.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raw_data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875" y="2103120"/>
            <a:ext cx="363249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393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 raw source files, exactly as received — before any cleaning.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9" name="Image 1" descr="notebook_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88" y="4160520"/>
            <a:ext cx="1766944" cy="1737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46120" y="4069080"/>
            <a:ext cx="26974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1" name="Image 2" descr="notebook_step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9256" y="4160520"/>
            <a:ext cx="1511207" cy="17373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72200" y="196596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3" name="Image 3" descr="notebook_ste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7" y="2075688"/>
            <a:ext cx="4654286" cy="38039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1  ·  LIVE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Integration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validated star schema, live in Power BI.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4251960"/>
          </a:xfrm>
          <a:prstGeom prst="roundRect">
            <a:avLst>
              <a:gd name="adj" fmla="val 1505"/>
            </a:avLst>
          </a:prstGeom>
          <a:solidFill>
            <a:srgbClr val="000000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921" y="1984248"/>
            <a:ext cx="7263677" cy="4032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2  ·  WEEKS 3–4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Intelligence &amp; Temporal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Daily, weekly, and monthly trend views, plus statistical anomaly detection using Z-scores.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4023360"/>
          </a:xfrm>
          <a:prstGeom prst="roundRect">
            <a:avLst>
              <a:gd name="adj" fmla="val 1591"/>
            </a:avLst>
          </a:prstGeom>
          <a:solidFill>
            <a:srgbClr val="000000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0897"/>
            <a:ext cx="6766560" cy="37534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167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560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TSI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2798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58.70  (Medium risk)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108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threshold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0" y="3346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|Z-score| ≥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rate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0" y="38953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0.10%  (3 flagged events)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206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windows built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44439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· Weekly · Monthly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0" y="4754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levels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55280" y="49926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per-zone bands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5349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 = (x − μ) / σ  — how far each day's incident count sits from the average, in standard deviations.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3  ·  WEEKS 5–6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Intelligence &amp; Response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threat location to risk-aware resource deployment — where, how risky, how we respond, and are resources efficient.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4023360"/>
          </a:xfrm>
          <a:prstGeom prst="roundRect">
            <a:avLst>
              <a:gd name="adj" fmla="val 1591"/>
            </a:avLst>
          </a:prstGeom>
          <a:solidFill>
            <a:srgbClr val="000000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63482"/>
            <a:ext cx="6766560" cy="38283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167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560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response time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2798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10.79 minutes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108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met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0" y="3346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 zones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0" y="38953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zone flagged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206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incident zone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44439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H — 624 incidents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0" y="4754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deployed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55280" y="49926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units, by risk tier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5349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Principle: incident count answers "how much" — risk tier answers "how serious." Both are needed to prioritize.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4  ·  WEEKS 7–8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Intelligence &amp; Executive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incidents become a forward-looking executive risk view — assess, predict, decide.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949440" cy="4023360"/>
          </a:xfrm>
          <a:prstGeom prst="roundRect">
            <a:avLst>
              <a:gd name="adj" fmla="val 1591"/>
            </a:avLst>
          </a:prstGeom>
          <a:solidFill>
            <a:srgbClr val="000000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m4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77582"/>
            <a:ext cx="6766560" cy="38001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96596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167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KPIs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5603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TSI (current)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27980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58.70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3108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TSI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955280" y="33467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72.22  — rising trend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Met / Platform Uptime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55280" y="38953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  /  90%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206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hotspots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955280" y="44439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locations flagged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0" y="4754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method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55280" y="49926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built-in forecasting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5349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Forecasts are estimates, not guarantees — a widening confidence band signals more uncertainty, not automatic escalation.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Visualization Techniques Used Across the Project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chart type was chosen for a specific analytical purpose.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88136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4663440"/>
                <a:gridCol w="320040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Shown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D9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Card / KPI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Single-value metrics (TSI, SLA, response time)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At-a-glance 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 chart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/ weekly / monthly incident &amp; TSI trends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temporal patterns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Z-score line chart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incident Z-scores with ±2 limits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Statistical anomaly detection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Clustered bar chart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 &amp; escalations by zone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categories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Donut chart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share by threat type / risk tier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 composition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Gauge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TSI against a risk threshold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risk read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 (geospatial)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Zone-level incident &amp; risk-tier hotspots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Location-based prioritization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Table (conditional formatting)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 &amp; Security Scorecard by zone/region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Ranked, color-coded detail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Forecast chart (with confidence band)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7ECF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Weekly TSI, 8-period forecast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Predictive risk estimation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 Across All 4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→ interpretation, consolidated from the full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2432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sources at 82.8%–100% ingestion completeness; every gap was measured and flagged, not hidden.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33672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0" name="Image 1" descr="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19472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34840" y="262432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and monthly smoothing distinguishes short-lived spikes from sustained risk trends.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918704" y="19659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4" name="Image 2" descr="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1488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04504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Anomalies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19872" y="262432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Z-score analysis flags statistically real outliers — 0.10% anomaly rate, a screening signal, not proof of attack.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18" name="Image 3" descr="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114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49808" y="459028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H consistently shows the highest incident volume (624); incident count and risk tier together drive prioritization.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33672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22" name="Image 4" descr="icons/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1148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19472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434840" y="459028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response time of 10.79 min with 88% SLA compliance — 1 zone flagged as a genuine bottleneck.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918704" y="39319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pic>
        <p:nvPicPr>
          <p:cNvPr id="26" name="Image 5" descr="icons/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872" y="41148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04504" y="4114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19872" y="4590288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 TSI (72.22) trending above current average (58.70) — an early signal for capacity planning.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SUPPORT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Decision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security manager should act on what the dashboard shows.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91440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+ critical hotspot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121408"/>
            <a:ext cx="6583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investigation, enhanced monitoring, priority resource allocation.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90672"/>
            <a:ext cx="73152" cy="914400"/>
          </a:xfrm>
          <a:prstGeom prst="rect">
            <a:avLst/>
          </a:prstGeom>
          <a:solidFill>
            <a:srgbClr val="F0A6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increasing + forecast increasing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6583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additional response capacity; increase monitoring frequency.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69664"/>
            <a:ext cx="73152" cy="914400"/>
          </a:xfrm>
          <a:prstGeom prst="rect">
            <a:avLst/>
          </a:prstGeom>
          <a:solidFill>
            <a:srgbClr val="F0A6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7939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below target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4279392"/>
            <a:ext cx="6583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response bottlenecks, team workload, and escalation handling.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4865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248656"/>
            <a:ext cx="73152" cy="914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5838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incident count but low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5358384"/>
            <a:ext cx="6583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workload; do not equate volume alone with criticality.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Principle: measure → locate → predict → prioritize → act → monitor.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honest look at what was hard, and what it taught the team.</a:t>
            </a:r>
            <a:endParaRPr lang="en-US" sz="1250" dirty="0"/>
          </a:p>
        </p:txBody>
      </p:sp>
      <p:pic>
        <p:nvPicPr>
          <p:cNvPr id="5" name="Image 0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011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Messy, inconsistent raw data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51560" y="23408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different labels for 5 categories, 3 mixed date formats — solved with explicit standardization logic, not shortcuts.</a:t>
            </a:r>
            <a:endParaRPr lang="en-US" sz="1150" dirty="0"/>
          </a:p>
        </p:txBody>
      </p:sp>
      <p:pic>
        <p:nvPicPr>
          <p:cNvPr id="8" name="Image 1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87121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systems, no shared key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51560" y="3200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logs and operational/response data had no direct foreign key — resolved with a realistic zone + date join.</a:t>
            </a:r>
            <a:endParaRPr lang="en-US" sz="1150" dirty="0"/>
          </a:p>
        </p:txBody>
      </p:sp>
      <p:pic>
        <p:nvPicPr>
          <p:cNvPr id="11" name="Image 2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764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73075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Geospatial map wouldn't auto-zoom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51560" y="405993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BI's Map visual needed named locations instead of raw coordinates — fixed by reverse-mapping zones to real cities.</a:t>
            </a:r>
            <a:endParaRPr lang="en-US" sz="1150" dirty="0"/>
          </a:p>
        </p:txBody>
      </p:sp>
      <p:pic>
        <p:nvPicPr>
          <p:cNvPr id="14" name="Image 3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3600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5902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meaningful risk thresholds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51560" y="49194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Critical/High/Medium/Low bands flattened to one value — recalibrated thresholds to the dataset's real distribution.</a:t>
            </a:r>
            <a:endParaRPr lang="en-US" sz="1150" dirty="0"/>
          </a:p>
        </p:txBody>
      </p:sp>
      <p:pic>
        <p:nvPicPr>
          <p:cNvPr id="17" name="Image 4" descr="icons/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9554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544982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Forecasting is an estimate, not a fact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051560" y="57790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Learned to present confidence bands honestly, and to explain uncertainty rather than hide it.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Raw Data to Actionable Security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project delivered, and where it could go next.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21826"/>
          </a:solidFill>
          <a:ln w="12700">
            <a:solidFill>
              <a:srgbClr val="23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DELIVERED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A validated star-schema data model from 5 raw sources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Daily / weekly / monthly temporal analysis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Statistical anomaly detection via Z-score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Geospatial hotspot mapping and response analytics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An 8-week predictive risk forecast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A 4-page executive-ready Power BI dashboard suite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121826"/>
          </a:solidFill>
          <a:ln w="12700">
            <a:solidFill>
              <a:srgbClr val="2D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945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Validate forecast settings and surface the complete 8-week weekly forecast series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Automate scheduled data refresh from live source systems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Extend anomaly detection to threat-type and zone-level Z-scores, not just daily totals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Add role-based dashboard views (analyst vs. executive)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7ECF3"/>
                </a:solidFill>
              </a:rPr>
              <a:t>Integrate real SLA/timestamp definitions validated against source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9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— Milestones 1 to 4, Complete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84648" y="4206240"/>
            <a:ext cx="1828800" cy="0"/>
          </a:xfrm>
          <a:prstGeom prst="line">
            <a:avLst/>
          </a:prstGeom>
          <a:noFill/>
          <a:ln w="12700">
            <a:solidFill>
              <a:srgbClr val="23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3891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</a:t>
            </a:r>
            <a:r>
              <a:rPr lang="en-US" sz="1300" dirty="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3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Neeraj Sharma, Abhishek, Vaishnavi, Swetha, </a:t>
            </a:r>
            <a:r>
              <a:rPr lang="en-US" sz="1300" dirty="0" err="1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Akanksha</a:t>
            </a:r>
            <a:r>
              <a:rPr lang="en-US" sz="1300" dirty="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300" dirty="0" err="1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Ritika</a:t>
            </a:r>
            <a:r>
              <a:rPr lang="en-US" sz="1300" smtClean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Mr. Sughandar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INTEL FRAMEWORK  ·  FINAL SUBMISSION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