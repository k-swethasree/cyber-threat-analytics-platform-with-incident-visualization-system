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05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Milestone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B4DCFF"/>
                </a:solidFill>
              </a:defRPr>
            </a:pPr>
            <a:r>
              <a:rPr dirty="0"/>
              <a:t>Threat Intelligence &amp; Temporal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794760"/>
            <a:ext cx="10603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Dataset exploration • Threat severity • Time-series analysis • Anomaly detection • Z-score analysis •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257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2DCE6"/>
                </a:solidFill>
              </a:defRPr>
            </a:pPr>
            <a:r>
              <a:t>Milestone 2 Presentation — 14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423CC-D681-49DF-9E90-8ADDD285F510}"/>
              </a:ext>
            </a:extLst>
          </p:cNvPr>
          <p:cNvSpPr txBox="1"/>
          <p:nvPr/>
        </p:nvSpPr>
        <p:spPr>
          <a:xfrm>
            <a:off x="731520" y="4286250"/>
            <a:ext cx="10317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Presented By : Team C (Neeraj Sharma)</a:t>
            </a:r>
          </a:p>
          <a:p>
            <a:endParaRPr lang="en-US" b="1" dirty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 the supervision of our mentor : Mr. Sughandar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5B83D-9349-4BD2-8DC3-F206958BDE52}"/>
              </a:ext>
            </a:extLst>
          </p:cNvPr>
          <p:cNvSpPr txBox="1"/>
          <p:nvPr/>
        </p:nvSpPr>
        <p:spPr>
          <a:xfrm>
            <a:off x="762000" y="3019425"/>
            <a:ext cx="10759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chemeClr val="accent5"/>
                </a:solidFill>
                <a:effectLst/>
                <a:latin typeface="Google Sans"/>
              </a:rPr>
              <a:t>Cyber Threat Analytics platform with incident Visualization System</a:t>
            </a:r>
            <a:endParaRPr lang="en-US" sz="28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57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1. Milestone 2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What we focused on in this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1900" b="0">
                <a:solidFill>
                  <a:srgbClr val="232323"/>
                </a:solidFill>
              </a:defRPr>
            </a:pPr>
            <a:r>
              <a:rPr dirty="0"/>
              <a:t>Explore the threat-intelligence dataset and understand the purpose of its major fields.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1900" b="0">
                <a:solidFill>
                  <a:srgbClr val="232323"/>
                </a:solidFill>
              </a:defRPr>
            </a:pPr>
            <a:r>
              <a:rPr dirty="0"/>
              <a:t>Analyze incident activity using daily, weekly, and monthly time-series views.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1900" b="0">
                <a:solidFill>
                  <a:srgbClr val="232323"/>
                </a:solidFill>
              </a:defRPr>
            </a:pPr>
            <a:r>
              <a:rPr dirty="0"/>
              <a:t>Measure threat severity and interpret the Threat Sensitivity Index (TSI) as a risk-oriented metric.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1900" b="0">
                <a:solidFill>
                  <a:srgbClr val="232323"/>
                </a:solidFill>
              </a:defRPr>
            </a:pPr>
            <a:r>
              <a:rPr dirty="0"/>
              <a:t>Identify unusual incident behavior using Z-score anomaly detection with ±2 reference limits.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1900" b="0">
                <a:solidFill>
                  <a:srgbClr val="232323"/>
                </a:solidFill>
              </a:defRPr>
            </a:pPr>
            <a:r>
              <a:rPr dirty="0"/>
              <a:t>Build a dashboard that converts raw security data into actionable, decision-oriented visual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2. Threat Intelligence &amp; Incident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323"/>
                </a:solidFill>
              </a:defRPr>
            </a:pPr>
            <a:r>
              <a:t>Threat intelligence converts raw security-event data into information that supports detection, prioritization, and response.</a:t>
            </a:r>
          </a:p>
          <a:p>
            <a:pPr>
              <a:spcAft>
                <a:spcPts val="1200"/>
              </a:spcAft>
              <a:defRPr sz="1900" b="0">
                <a:solidFill>
                  <a:srgbClr val="232323"/>
                </a:solidFill>
              </a:defRPr>
            </a:pPr>
            <a:r>
              <a:t>The analysis considers incident categories such as Cyber, Environmental, Intrusion, Other, and Physical.</a:t>
            </a:r>
          </a:p>
          <a:p>
            <a:pPr>
              <a:spcAft>
                <a:spcPts val="1200"/>
              </a:spcAft>
              <a:defRPr sz="1900" b="0">
                <a:solidFill>
                  <a:srgbClr val="232323"/>
                </a:solidFill>
              </a:defRPr>
            </a:pPr>
            <a:r>
              <a:t>Zones are used to compare where incidents are concentrated and where escalation is higher.</a:t>
            </a:r>
          </a:p>
          <a:p>
            <a:pPr>
              <a:spcAft>
                <a:spcPts val="1200"/>
              </a:spcAft>
              <a:defRPr sz="1900" b="0">
                <a:solidFill>
                  <a:srgbClr val="232323"/>
                </a:solidFill>
              </a:defRPr>
            </a:pPr>
            <a:r>
              <a:t>Severity and TSI help the security team prioritize incidents rather than treating every event equally.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92040"/>
            <a:ext cx="2788920" cy="841248"/>
          </a:xfrm>
          <a:prstGeom prst="round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892040"/>
            <a:ext cx="64008" cy="841248"/>
          </a:xfrm>
          <a:prstGeom prst="rect">
            <a:avLst/>
          </a:prstGeom>
          <a:solidFill>
            <a:srgbClr val="23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983479"/>
            <a:ext cx="2532887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1F35"/>
                </a:solidFill>
              </a:defRPr>
            </a:pPr>
            <a:r>
              <a:t>58.70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t>Average TSI</a:t>
            </a:r>
          </a:p>
          <a:p>
            <a:pPr>
              <a:defRPr sz="850">
                <a:solidFill>
                  <a:srgbClr val="5F6973"/>
                </a:solidFill>
              </a:defRPr>
            </a:pPr>
            <a:r>
              <a:t>Overall risk: Medium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892040"/>
            <a:ext cx="2788920" cy="841248"/>
          </a:xfrm>
          <a:prstGeom prst="round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11880" y="4892040"/>
            <a:ext cx="64008" cy="841248"/>
          </a:xfrm>
          <a:prstGeom prst="rect">
            <a:avLst/>
          </a:prstGeom>
          <a:solidFill>
            <a:srgbClr val="23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7240" y="5003673"/>
            <a:ext cx="2532887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1F35"/>
                </a:solidFill>
              </a:defRPr>
            </a:pPr>
            <a:r>
              <a:t>3,000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t>Total incidents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892040"/>
            <a:ext cx="2240280" cy="841248"/>
          </a:xfrm>
          <a:prstGeom prst="round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37960" y="4892040"/>
            <a:ext cx="64008" cy="841248"/>
          </a:xfrm>
          <a:prstGeom prst="rect">
            <a:avLst/>
          </a:prstGeom>
          <a:solidFill>
            <a:srgbClr val="23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02552" y="4983479"/>
            <a:ext cx="1984248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1F35"/>
                </a:solidFill>
              </a:defRPr>
            </a:pPr>
            <a:r>
              <a:t>597–624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t>Visible zone totals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4892040"/>
            <a:ext cx="2331720" cy="841248"/>
          </a:xfrm>
          <a:prstGeom prst="round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15400" y="4892040"/>
            <a:ext cx="64008" cy="841248"/>
          </a:xfrm>
          <a:prstGeom prst="rect">
            <a:avLst/>
          </a:prstGeom>
          <a:solidFill>
            <a:srgbClr val="D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79992" y="4983479"/>
            <a:ext cx="2075687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1F35"/>
                </a:solidFill>
              </a:defRPr>
            </a:pPr>
            <a:r>
              <a:t>55–67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t>Visible escalated range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833872"/>
            <a:ext cx="278892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5833872"/>
            <a:ext cx="64008" cy="594360"/>
          </a:xfrm>
          <a:prstGeom prst="rect">
            <a:avLst/>
          </a:prstGeom>
          <a:solidFill>
            <a:srgbClr val="23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0104" y="5837682"/>
            <a:ext cx="253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1F35"/>
                </a:solidFill>
              </a:defRPr>
            </a:pPr>
            <a:r>
              <a:rPr dirty="0"/>
              <a:t>5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rPr dirty="0"/>
              <a:t>Threat-type categories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5833872"/>
            <a:ext cx="278892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11880" y="5833872"/>
            <a:ext cx="64008" cy="594360"/>
          </a:xfrm>
          <a:prstGeom prst="rect">
            <a:avLst/>
          </a:prstGeom>
          <a:solidFill>
            <a:srgbClr val="D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49423" y="5812536"/>
            <a:ext cx="253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1F35"/>
                </a:solidFill>
              </a:defRPr>
            </a:pPr>
            <a:r>
              <a:t>3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t>Z-score anomalies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5833872"/>
            <a:ext cx="470916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37960" y="5833872"/>
            <a:ext cx="64008" cy="594360"/>
          </a:xfrm>
          <a:prstGeom prst="rect">
            <a:avLst/>
          </a:prstGeom>
          <a:solidFill>
            <a:srgbClr val="D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39128" y="5779006"/>
            <a:ext cx="2696572" cy="6078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1F35"/>
                </a:solidFill>
              </a:defRPr>
            </a:pPr>
            <a:r>
              <a:rPr dirty="0"/>
              <a:t>0.10%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rPr dirty="0"/>
              <a:t>Incident-based anomaly rate</a:t>
            </a:r>
            <a:r>
              <a:rPr lang="en-US" dirty="0"/>
              <a:t>    </a:t>
            </a:r>
            <a:r>
              <a:rPr dirty="0"/>
              <a:t>3 / 3,000 ×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3. Temporal Analytics: Daily, Weekly &amp; Monthly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Why different time windows are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323"/>
                </a:solidFill>
              </a:defRPr>
            </a:pPr>
            <a:r>
              <a:t>Daily analysis gives fine-grained visibility and is used here for Z-score based anomaly detection.</a:t>
            </a:r>
          </a:p>
          <a:p>
            <a:pPr>
              <a:spcAft>
                <a:spcPts val="1200"/>
              </a:spcAft>
              <a:defRPr sz="1800" b="0">
                <a:solidFill>
                  <a:srgbClr val="232323"/>
                </a:solidFill>
              </a:defRPr>
            </a:pPr>
            <a:r>
              <a:t>Weekly aggregation supports short-term monitoring and comparison of incident volume from week to week.</a:t>
            </a:r>
          </a:p>
          <a:p>
            <a:pPr>
              <a:spcAft>
                <a:spcPts val="1200"/>
              </a:spcAft>
              <a:defRPr sz="1800" b="0">
                <a:solidFill>
                  <a:srgbClr val="232323"/>
                </a:solidFill>
              </a:defRPr>
            </a:pPr>
            <a:r>
              <a:t>Monthly aggregation supports long-term trend analysis, management reporting, and evaluation of changing risk.</a:t>
            </a:r>
          </a:p>
          <a:p>
            <a:pPr>
              <a:spcAft>
                <a:spcPts val="1200"/>
              </a:spcAft>
              <a:defRPr sz="1800" b="0">
                <a:solidFill>
                  <a:srgbClr val="232323"/>
                </a:solidFill>
              </a:defRPr>
            </a:pPr>
            <a:r>
              <a:t>Using multiple time windows helps distinguish short-lived spikes from sustained trends.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05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65557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4. Anomaly Detection &amp; Z-Score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Detecting behavior that differs from normal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 anomaly is an observation that is unusually different from the normal pattern.</a:t>
            </a:r>
          </a:p>
          <a:p>
            <a:r>
              <a:t>Example: if daily incidents normally stay around a stable range and one day shows a sharp spike, that day should be flagged for investigation.</a:t>
            </a:r>
          </a:p>
          <a:p>
            <a:r>
              <a:t>Z-score measures how far an observation is from the mean in units of standard deviation.</a:t>
            </a:r>
          </a:p>
          <a:p>
            <a:r>
              <a:t>For this dashboard, an observation is flagged when |Z| &gt; 2, matching the +2 and −2 reference lines shown in the chart.</a:t>
            </a:r>
          </a:p>
          <a:p>
            <a:r>
              <a:t>Important: an anomaly is a signal for investigation, not proof that an attack occurred.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Z = (x − μ) / 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507492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 result: 3 observations cross the ±2 Z-score threshold.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432161"/>
            <a:ext cx="54521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D23741"/>
                </a:solidFill>
              </a:defRPr>
            </a:pPr>
            <a:r>
              <a:rPr dirty="0"/>
              <a:t>Anomaly Rate = 3 / 3,000 × 100 = 0.10%</a:t>
            </a:r>
          </a:p>
          <a:p>
            <a:pPr>
              <a:defRPr sz="1100">
                <a:solidFill>
                  <a:srgbClr val="5F6973"/>
                </a:solidFill>
              </a:defRPr>
            </a:pPr>
            <a:r>
              <a:rPr dirty="0"/>
              <a:t>Based on the project definition of 3 anomalous events out of 3,000 incidents.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8572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5. 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Milestone 2 dashboard developed from the threat-intelligence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Screenshot 2026-08-14 144948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834" y="1279941"/>
            <a:ext cx="9951415" cy="5053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6. Key Findings from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dashboard's Avg TSI gauge and overall zone summary both show 58.70, with the overall risk level classified as Medium.</a:t>
            </a:r>
          </a:p>
          <a:p>
            <a:r>
              <a:t>Visible zone incident totals range from 597 to 624; Zone H has the highest visible total at 624.</a:t>
            </a:r>
          </a:p>
          <a:p>
            <a:r>
              <a:t>Visible escalated incidents range from 55 to 67, showing that escalation differs across zones.</a:t>
            </a:r>
          </a:p>
          <a:p>
            <a:r>
              <a:t>The dashboard contains five threat-type categories: Intrusion, Cyber, Physical, Environmental, and Other.</a:t>
            </a:r>
          </a:p>
          <a:p>
            <a:r>
              <a:t>The weekly chart shows incident totals mostly around 300–550, followed by a sharp drop in the latest point. The latest value should be checked for data completeness before calling it a true decline.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70832"/>
            <a:ext cx="10515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F35"/>
                </a:solidFill>
              </a:defRPr>
            </a:pPr>
            <a:r>
              <a:t>Threat-type distribution: Intrusion is the largest visible category (30.48%), followed by Cyber (24.78%).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2370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rPr sz="1600" b="1"/>
              <a:t>8. Visualization Selection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057400" cy="502920"/>
          </a:xfrm>
          <a:prstGeom prst="rect">
            <a:avLst/>
          </a:prstGeom>
          <a:solidFill>
            <a:srgbClr val="121F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5" name="TextBox 4"/>
          <p:cNvSpPr txBox="1"/>
          <p:nvPr/>
        </p:nvSpPr>
        <p:spPr>
          <a:xfrm>
            <a:off x="713231" y="1307592"/>
            <a:ext cx="12685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 b="1"/>
              <a:t>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1234440"/>
            <a:ext cx="3794760" cy="502920"/>
          </a:xfrm>
          <a:prstGeom prst="rect">
            <a:avLst/>
          </a:prstGeom>
          <a:solidFill>
            <a:srgbClr val="121F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7" name="TextBox 6"/>
          <p:cNvSpPr txBox="1"/>
          <p:nvPr/>
        </p:nvSpPr>
        <p:spPr>
          <a:xfrm>
            <a:off x="2770632" y="1307592"/>
            <a:ext cx="5831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 b="1"/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234440"/>
            <a:ext cx="4892040" cy="502920"/>
          </a:xfrm>
          <a:prstGeom prst="rect">
            <a:avLst/>
          </a:prstGeom>
          <a:solidFill>
            <a:srgbClr val="121F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9" name="TextBox 8"/>
          <p:cNvSpPr txBox="1"/>
          <p:nvPr/>
        </p:nvSpPr>
        <p:spPr>
          <a:xfrm>
            <a:off x="6565392" y="1307592"/>
            <a:ext cx="8835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 b="1"/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0574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11" name="TextBox 10"/>
          <p:cNvSpPr txBox="1"/>
          <p:nvPr/>
        </p:nvSpPr>
        <p:spPr>
          <a:xfrm>
            <a:off x="713231" y="1828800"/>
            <a:ext cx="102303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Line chart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737360"/>
            <a:ext cx="379476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13" name="TextBox 12"/>
          <p:cNvSpPr txBox="1"/>
          <p:nvPr/>
        </p:nvSpPr>
        <p:spPr>
          <a:xfrm>
            <a:off x="2770632" y="1828800"/>
            <a:ext cx="28129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Daily / weekly incident volume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37360"/>
            <a:ext cx="489204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15" name="TextBox 14"/>
          <p:cNvSpPr txBox="1"/>
          <p:nvPr/>
        </p:nvSpPr>
        <p:spPr>
          <a:xfrm>
            <a:off x="6565392" y="1828800"/>
            <a:ext cx="20745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Show temporal trends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50592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17" name="TextBox 16"/>
          <p:cNvSpPr txBox="1"/>
          <p:nvPr/>
        </p:nvSpPr>
        <p:spPr>
          <a:xfrm>
            <a:off x="713231" y="2542032"/>
            <a:ext cx="9637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Bar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450592"/>
            <a:ext cx="3794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19" name="TextBox 18"/>
          <p:cNvSpPr txBox="1"/>
          <p:nvPr/>
        </p:nvSpPr>
        <p:spPr>
          <a:xfrm>
            <a:off x="2770632" y="2542032"/>
            <a:ext cx="31898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Total vs escalated incidents by zone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450592"/>
            <a:ext cx="4892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565392" y="2542032"/>
            <a:ext cx="20751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Compare zone activity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63824"/>
            <a:ext cx="20574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23" name="TextBox 22"/>
          <p:cNvSpPr txBox="1"/>
          <p:nvPr/>
        </p:nvSpPr>
        <p:spPr>
          <a:xfrm>
            <a:off x="713231" y="3255264"/>
            <a:ext cx="12057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Donut chart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163824"/>
            <a:ext cx="379476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25" name="TextBox 24"/>
          <p:cNvSpPr txBox="1"/>
          <p:nvPr/>
        </p:nvSpPr>
        <p:spPr>
          <a:xfrm>
            <a:off x="2770632" y="3255264"/>
            <a:ext cx="26453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Incident share by threat 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163824"/>
            <a:ext cx="489204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27" name="TextBox 26"/>
          <p:cNvSpPr txBox="1"/>
          <p:nvPr/>
        </p:nvSpPr>
        <p:spPr>
          <a:xfrm>
            <a:off x="6565392" y="3255264"/>
            <a:ext cx="25393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/>
              <a:t>Show category composition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877056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29" name="TextBox 28"/>
          <p:cNvSpPr txBox="1"/>
          <p:nvPr/>
        </p:nvSpPr>
        <p:spPr>
          <a:xfrm>
            <a:off x="713231" y="3968496"/>
            <a:ext cx="7259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Gauge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3877056"/>
            <a:ext cx="3794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31" name="TextBox 30"/>
          <p:cNvSpPr txBox="1"/>
          <p:nvPr/>
        </p:nvSpPr>
        <p:spPr>
          <a:xfrm>
            <a:off x="2770632" y="3968496"/>
            <a:ext cx="33283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Average TSI / risk 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877056"/>
            <a:ext cx="4892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33" name="TextBox 32"/>
          <p:cNvSpPr txBox="1"/>
          <p:nvPr/>
        </p:nvSpPr>
        <p:spPr>
          <a:xfrm>
            <a:off x="6565392" y="3968496"/>
            <a:ext cx="18516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Quick risk overview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90288"/>
            <a:ext cx="20574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35" name="TextBox 34"/>
          <p:cNvSpPr txBox="1"/>
          <p:nvPr/>
        </p:nvSpPr>
        <p:spPr>
          <a:xfrm>
            <a:off x="713231" y="4681728"/>
            <a:ext cx="16448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Z-score line chart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4590288"/>
            <a:ext cx="379476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37" name="TextBox 36"/>
          <p:cNvSpPr txBox="1"/>
          <p:nvPr/>
        </p:nvSpPr>
        <p:spPr>
          <a:xfrm>
            <a:off x="2770632" y="4681728"/>
            <a:ext cx="32860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Daily incident Z-scores with ±2 limits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590288"/>
            <a:ext cx="489204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39" name="TextBox 38"/>
          <p:cNvSpPr txBox="1"/>
          <p:nvPr/>
        </p:nvSpPr>
        <p:spPr>
          <a:xfrm>
            <a:off x="6565392" y="4681728"/>
            <a:ext cx="17659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Identify anomalies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303520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41" name="TextBox 40"/>
          <p:cNvSpPr txBox="1"/>
          <p:nvPr/>
        </p:nvSpPr>
        <p:spPr>
          <a:xfrm>
            <a:off x="713231" y="5394960"/>
            <a:ext cx="18113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Dual-axis line chart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5303520"/>
            <a:ext cx="37947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43" name="TextBox 42"/>
          <p:cNvSpPr txBox="1"/>
          <p:nvPr/>
        </p:nvSpPr>
        <p:spPr>
          <a:xfrm>
            <a:off x="2770632" y="5394960"/>
            <a:ext cx="31515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Incidents vs average response 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5303520"/>
            <a:ext cx="4892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/>
          </a:p>
        </p:txBody>
      </p:sp>
      <p:sp>
        <p:nvSpPr>
          <p:cNvPr id="45" name="TextBox 44"/>
          <p:cNvSpPr txBox="1"/>
          <p:nvPr/>
        </p:nvSpPr>
        <p:spPr>
          <a:xfrm>
            <a:off x="6565392" y="5394960"/>
            <a:ext cx="37950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rPr sz="1600" b="1"/>
              <a:t>Compare workload and response behavior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24018" y="6446520"/>
            <a:ext cx="288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rPr sz="1600" b="1"/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52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9. Today's Milestone 2 Tasks Completed / Presented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14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Explained threat intelligence, cybersecurity incident categories, and threat severity levels.</a:t>
            </a:r>
          </a:p>
          <a:p>
            <a:r>
              <a:t>Explained time-series analysis using daily, weekly, and monthly cybersecurity data.</a:t>
            </a:r>
          </a:p>
          <a:p>
            <a:r>
              <a:t>Identified a cybersecurity trend: changes in incident volume over time.</a:t>
            </a:r>
          </a:p>
          <a:p>
            <a:r>
              <a:t>Identified a cybersecurity anomaly: a sudden incident spike relative to normal activity.</a:t>
            </a:r>
          </a:p>
          <a:p>
            <a:r>
              <a:t>Applied Z-score anomaly analysis using the dashboard's ±2 reference limits.</a:t>
            </a:r>
          </a:p>
          <a:p>
            <a:r>
              <a:t>Mapped each visualization to its analytical purpose: line, bar, donut, gauge, dual-axis, and Z-score charts.</a:t>
            </a:r>
          </a:p>
          <a:p>
            <a:r>
              <a:t>Calculated and incorporated the incident-based anomaly rate: 3 flagged events / 3,000 incidents = 0.10%.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90876"/>
            <a:ext cx="10650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Key presentation message: anomaly detection identifies unusual behavior for investigation; it does not by itself</a:t>
            </a:r>
            <a:endParaRPr lang="en-US" dirty="0"/>
          </a:p>
          <a:p>
            <a:r>
              <a:rPr dirty="0"/>
              <a:t> confirm an attack.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05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35"/>
                </a:solidFill>
              </a:defRPr>
            </a:pPr>
            <a:r>
              <a:t>10. 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dashboard consolidates threat volume, TSI/risk, zone activity, threat-type composition, response time, and temporal behavior.</a:t>
            </a:r>
          </a:p>
          <a:p>
            <a:r>
              <a:t>Temporal analysis highlights both short-term fluctuations and longer-term patterns.</a:t>
            </a:r>
          </a:p>
          <a:p>
            <a:r>
              <a:t>Three observations crossed the ±2 Z-score threshold, giving an incident-based anomaly rate of 0.10%; these observations still require contextual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3592"/>
            <a:ext cx="1016317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1F35"/>
                </a:solidFill>
              </a:defRPr>
            </a:pPr>
            <a:r>
              <a:rPr dirty="0"/>
              <a:t>Overall objective: turn raw threat data into actionable security intelligence and prioritize events that require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DE3F5-FEB3-4722-974A-B3BEBB0C1652}"/>
              </a:ext>
            </a:extLst>
          </p:cNvPr>
          <p:cNvSpPr txBox="1"/>
          <p:nvPr/>
        </p:nvSpPr>
        <p:spPr>
          <a:xfrm>
            <a:off x="2695575" y="4363521"/>
            <a:ext cx="6410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937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Google Sans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Neeraj Sharma</cp:lastModifiedBy>
  <cp:revision>15</cp:revision>
  <dcterms:created xsi:type="dcterms:W3CDTF">2013-01-27T09:14:16Z</dcterms:created>
  <dcterms:modified xsi:type="dcterms:W3CDTF">2026-08-14T14:00:14Z</dcterms:modified>
  <cp:category/>
</cp:coreProperties>
</file>