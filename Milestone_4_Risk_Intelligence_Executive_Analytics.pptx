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4BCDEB"/>
                </a:solidFill>
                <a:latin typeface="Aptos"/>
              </a:rP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7724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500" b="1">
                <a:solidFill>
                  <a:srgbClr val="F5F7FA"/>
                </a:solidFill>
                <a:latin typeface="Aptos"/>
              </a:rPr>
              <a:t>Risk Intelligence &amp;
Executive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7863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B2BED2"/>
                </a:solidFill>
                <a:latin typeface="Aptos"/>
              </a:rPr>
              <a:t>Cybersecurity risk assessment • Predictive threat analytics • Executive decision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40480"/>
            <a:ext cx="3246120" cy="14173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840480"/>
            <a:ext cx="50292" cy="1417320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880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OBJECTIVE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28803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19472"/>
            <a:ext cx="28803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Convert historical incidents into an executive view of current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840480"/>
            <a:ext cx="3246120" cy="14173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3840480"/>
            <a:ext cx="50292" cy="1417320"/>
          </a:xfrm>
          <a:prstGeom prst="rect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3986784"/>
            <a:ext cx="2880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OBJECTIVE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4315968"/>
            <a:ext cx="28803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4919472"/>
            <a:ext cx="28803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Use historical time-series data to estimate future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3840480"/>
            <a:ext cx="3246120" cy="14173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3840480"/>
            <a:ext cx="50292" cy="1417320"/>
          </a:xfrm>
          <a:prstGeom prst="rect">
            <a:avLst/>
          </a:prstGeom>
          <a:solidFill>
            <a:srgbClr val="E84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6" y="3986784"/>
            <a:ext cx="2880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OBJECTIVE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4315968"/>
            <a:ext cx="28803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6" y="4919472"/>
            <a:ext cx="28803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Highlight hotspots, compliance and operational priorities.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E8EDF5"/>
                </a:solidFill>
                <a:latin typeface="Aptos"/>
              </a:rPr>
              <a:t>Prepared for mentor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Milestone 4 — 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Executive layer built on the incident, temporal and geospatial analysis from Milestones 1–3.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965960" cy="13258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0292" cy="1325880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63624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AVG TSI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1600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58.70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96312"/>
            <a:ext cx="1600200" cy="1371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Current aggregate threat/risk indicator.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417320"/>
            <a:ext cx="1965960" cy="13258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417320"/>
            <a:ext cx="50292" cy="1325880"/>
          </a:xfrm>
          <a:prstGeom prst="rect">
            <a:avLst/>
          </a:prstGeom>
          <a:solidFill>
            <a:srgbClr val="3DB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563624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SLA 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1892808"/>
            <a:ext cx="1600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496312"/>
            <a:ext cx="1600200" cy="1371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Dashboard KPI for service-level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417320"/>
            <a:ext cx="1965960" cy="13258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417320"/>
            <a:ext cx="50292" cy="1325880"/>
          </a:xfrm>
          <a:prstGeom prst="rect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563624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1892808"/>
            <a:ext cx="1600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2496312"/>
            <a:ext cx="1600200" cy="1371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Security platform availability KPI.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1417320"/>
            <a:ext cx="1965960" cy="13258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1417320"/>
            <a:ext cx="50292" cy="1325880"/>
          </a:xfrm>
          <a:prstGeom prst="rect">
            <a:avLst/>
          </a:prstGeom>
          <a:solidFill>
            <a:srgbClr val="F5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1563624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PRIOR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1892808"/>
            <a:ext cx="1600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0.49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496312"/>
            <a:ext cx="1600200" cy="1371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Incidents vs prior-period KPI shown on dashboard.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417320"/>
            <a:ext cx="1965960" cy="13258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1417320"/>
            <a:ext cx="50292" cy="1325880"/>
          </a:xfrm>
          <a:prstGeom prst="rect">
            <a:avLst/>
          </a:prstGeom>
          <a:solidFill>
            <a:srgbClr val="E84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8" y="1563624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CRITICAL HOTSPOTS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1892808"/>
            <a:ext cx="1600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2496312"/>
            <a:ext cx="1600200" cy="1371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Locations requiring priority attention.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063240"/>
            <a:ext cx="5349240" cy="260604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191256"/>
            <a:ext cx="49834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Executive questions answered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630168"/>
            <a:ext cx="49651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What is our current overall risk?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Where are the critical areas / hotspots?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Are security operations meeting the required SLA?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Is the risk pattern increasing over time?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What does the forecast suggest about future risk?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063240"/>
            <a:ext cx="5349240" cy="260604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191256"/>
            <a:ext cx="49834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Data → intelligence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630168"/>
            <a:ext cx="49651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Historical incident records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Daily and weekly time-series aggregation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Risk / TSI calculation and classification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Geospatial and hotspot analysis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Forecasting and executive KPI visualization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Risk Intelligence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The dashboard turns incident-level data into decision-oriented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4709160" cy="448056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5"/>
            <a:ext cx="4343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Executive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43251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Avg TSI of 58.70 represents the dashboard's current aggregate risk indicator.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Two critical hotspots are flagged for priority monitoring.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SLA Met % is displayed as 0.88; this should be interpreted consistently with the KPI's scale/format.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The dashboard shows a forecast TSI of 72.22, indicating a higher expected risk level than the current average.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Risk should be managed using both severity and location—not incident count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From KPI → Action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1874519"/>
            <a:ext cx="502920" cy="502920"/>
          </a:xfrm>
          <a:prstGeom prst="ellipse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874519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56231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Current risk / SLA / hotspots</a:t>
            </a:r>
          </a:p>
        </p:txBody>
      </p:sp>
      <p:sp>
        <p:nvSpPr>
          <p:cNvPr id="15" name="Oval 14"/>
          <p:cNvSpPr/>
          <p:nvPr/>
        </p:nvSpPr>
        <p:spPr>
          <a:xfrm>
            <a:off x="5715000" y="2715768"/>
            <a:ext cx="502920" cy="502920"/>
          </a:xfrm>
          <a:prstGeom prst="ellipse">
            <a:avLst/>
          </a:prstGeom>
          <a:solidFill>
            <a:srgbClr val="E84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71576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06624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97479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Identify critical locations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5715000" y="3557015"/>
            <a:ext cx="502920" cy="502920"/>
          </a:xfrm>
          <a:prstGeom prst="ellipse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557015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4787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38727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Estimate future risk</a:t>
            </a:r>
          </a:p>
        </p:txBody>
      </p:sp>
      <p:sp>
        <p:nvSpPr>
          <p:cNvPr id="23" name="Oval 22"/>
          <p:cNvSpPr/>
          <p:nvPr/>
        </p:nvSpPr>
        <p:spPr>
          <a:xfrm>
            <a:off x="5715000" y="4398264"/>
            <a:ext cx="502920" cy="502920"/>
          </a:xfrm>
          <a:prstGeom prst="ellipse">
            <a:avLst/>
          </a:prstGeom>
          <a:solidFill>
            <a:srgbClr val="F5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398264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89120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Prioritize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379976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Focus monitoring &amp;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Dashboard Evidence — Risk &amp; Geography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The current Power BI page combines regional risk, threat composition and geographic concentration.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EVIDENCE</a:t>
            </a:r>
          </a:p>
        </p:txBody>
      </p:sp>
      <p:pic>
        <p:nvPicPr>
          <p:cNvPr id="7" name="Picture 6" descr="Screenshot 2026-09-02 194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155680" cy="62650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199632"/>
            <a:ext cx="10789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B2BED2"/>
                </a:solidFill>
                <a:latin typeface="Aptos"/>
              </a:rPr>
              <a:t>Current dashboard snapshot used as the evidence base for the executive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Historical 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Two time resolutions support different decisions: daily detects short-lived events; weekly supports strategic trend and forecasting.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TEMPORAL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0292" cy="1828800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63624"/>
            <a:ext cx="3063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DAILY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92808"/>
            <a:ext cx="30632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Incident-by-date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3063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Used to detect sudden spikes, unusual days and Z-score anomalies. Best for operational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828800"/>
          </a:xfrm>
          <a:prstGeom prst="rect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063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WEEKLY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92808"/>
            <a:ext cx="30632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Week-start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96312"/>
            <a:ext cx="3063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Used to smooth daily noise and reveal broader risk/incident trends for forecasting.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3429000" cy="18288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50292" cy="1828800"/>
          </a:xfrm>
          <a:prstGeom prst="rect">
            <a:avLst/>
          </a:prstGeom>
          <a:solidFill>
            <a:srgbClr val="3DB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563624"/>
            <a:ext cx="3063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KEY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892808"/>
            <a:ext cx="30632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Date • Risk •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496312"/>
            <a:ext cx="3063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Recommended weekly series: Weekly Risk Score and Weekly Incident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10927080" cy="20574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785615"/>
            <a:ext cx="1056131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24528"/>
            <a:ext cx="105430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Validate date field and sort chronologically.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Create a daily incident count / daily risk measure.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Create a Week Start Date and aggregate incidents and risk score by week.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Keep the same date filters and business definitions across visuals.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Use weekly data for forecasting so isolated daily spikes do not dominate the long-term signal.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Predictive Analytics &amp;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Predictive analytics uses historical patterns to estimate what is likely to happen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39903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4BCDEB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Weekly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9903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4BCDE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Forecast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39903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4BCDEB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Future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20240"/>
            <a:ext cx="1737360" cy="1051560"/>
          </a:xfrm>
          <a:prstGeom prst="roundRect">
            <a:avLst/>
          </a:prstGeom>
          <a:solidFill>
            <a:srgbClr val="17223C"/>
          </a:solidFill>
          <a:ln>
            <a:solidFill>
              <a:srgbClr val="4B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920240"/>
            <a:ext cx="1737360" cy="1051560"/>
          </a:xfrm>
          <a:prstGeom prst="roundRect">
            <a:avLst/>
          </a:prstGeom>
          <a:solidFill>
            <a:srgbClr val="17223C"/>
          </a:solidFill>
          <a:ln>
            <a:solidFill>
              <a:srgbClr val="289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0" y="1920240"/>
            <a:ext cx="1737360" cy="1051560"/>
          </a:xfrm>
          <a:prstGeom prst="roundRect">
            <a:avLst/>
          </a:prstGeom>
          <a:solidFill>
            <a:srgbClr val="17223C"/>
          </a:solidFill>
          <a:ln>
            <a:solidFill>
              <a:srgbClr val="F5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920240"/>
            <a:ext cx="1737360" cy="1051560"/>
          </a:xfrm>
          <a:prstGeom prst="roundRect">
            <a:avLst/>
          </a:prstGeom>
          <a:solidFill>
            <a:srgbClr val="17223C"/>
          </a:solidFill>
          <a:ln>
            <a:solidFill>
              <a:srgbClr val="E84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5349240" cy="22402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11296"/>
            <a:ext cx="49834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Chosen forecasting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50208"/>
            <a:ext cx="4965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Use Power BI's built-in time-series forecasting on the weekly series.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Why: simple to implement, directly integrated with the dashboard, and easy for a mentor/executive to interpret.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Forecast horizon: configure the required 8 weekly periods.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Do not treat forecast values as guarantees; they are estimates with uncertainty.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83280"/>
            <a:ext cx="5349240" cy="22402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511296"/>
            <a:ext cx="49834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Two forecast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950208"/>
            <a:ext cx="4965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Weekly Risk Score → predicts future risk intensity.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Weekly Incident Count → predicts future workload / volume.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Showing both separates 'how risky?' from 'how many incidents?'</a:t>
            </a:r>
          </a:p>
          <a:p>
            <a:pPr>
              <a:spcAft>
                <a:spcPts val="900"/>
              </a:spcAft>
              <a:defRPr sz="1450">
                <a:solidFill>
                  <a:srgbClr val="E8EDF5"/>
                </a:solidFill>
                <a:latin typeface="Aptos"/>
              </a:defRPr>
            </a:pPr>
            <a:r>
              <a:t>The current dashboard already surfaces Forecast TSI = 72.22.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Forecast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The executive view should clearly separate observed history from predicted future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812280" cy="4160520"/>
          </a:xfrm>
          <a:prstGeom prst="rect">
            <a:avLst/>
          </a:prstGeom>
          <a:solidFill>
            <a:srgbClr val="121B2F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1920240"/>
            <a:ext cx="18288" cy="3200400"/>
          </a:xfrm>
          <a:prstGeom prst="rect">
            <a:avLst/>
          </a:prstGeom>
          <a:solidFill>
            <a:srgbClr val="B2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5120640"/>
            <a:ext cx="5715000" cy="18288"/>
          </a:xfrm>
          <a:prstGeom prst="rect">
            <a:avLst/>
          </a:prstGeom>
          <a:solidFill>
            <a:srgbClr val="B2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920240"/>
            <a:ext cx="1691640" cy="3200400"/>
          </a:xfrm>
          <a:prstGeom prst="rect">
            <a:avLst/>
          </a:prstGeom>
          <a:solidFill>
            <a:srgbClr val="24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618488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4BCDEB"/>
                </a:solidFill>
                <a:latin typeface="Aptos"/>
              </a:rPr>
              <a:t>HISTORICAL /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618488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B137"/>
                </a:solidFill>
                <a:latin typeface="Aptos"/>
              </a:rPr>
              <a:t>FORECAST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828800" y="3931920"/>
            <a:ext cx="365760" cy="50292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94560" y="3931920"/>
            <a:ext cx="365760" cy="18288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60320" y="3840479"/>
            <a:ext cx="365760" cy="274321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6080" y="3840479"/>
            <a:ext cx="365760" cy="22860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291840" y="3749039"/>
            <a:ext cx="365760" cy="32004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3749039"/>
            <a:ext cx="365759" cy="182881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023359" y="3520440"/>
            <a:ext cx="365761" cy="41148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389120" y="3291839"/>
            <a:ext cx="365759" cy="228601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79" y="3291839"/>
            <a:ext cx="365761" cy="182881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120640" y="3108960"/>
            <a:ext cx="274319" cy="365760"/>
          </a:xfrm>
          <a:prstGeom prst="line">
            <a:avLst/>
          </a:prstGeom>
          <a:ln w="38100">
            <a:solidFill>
              <a:srgbClr val="4B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94959" y="2926080"/>
            <a:ext cx="365761" cy="182880"/>
          </a:xfrm>
          <a:prstGeom prst="line">
            <a:avLst/>
          </a:prstGeom>
          <a:ln w="38100">
            <a:solidFill>
              <a:srgbClr val="F5B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2743200"/>
            <a:ext cx="365759" cy="182880"/>
          </a:xfrm>
          <a:prstGeom prst="line">
            <a:avLst/>
          </a:prstGeom>
          <a:ln w="38100">
            <a:solidFill>
              <a:srgbClr val="F5B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126479" y="2560320"/>
            <a:ext cx="365761" cy="182880"/>
          </a:xfrm>
          <a:prstGeom prst="line">
            <a:avLst/>
          </a:prstGeom>
          <a:ln w="38100">
            <a:solidFill>
              <a:srgbClr val="F5B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92240" y="2377439"/>
            <a:ext cx="365760" cy="182881"/>
          </a:xfrm>
          <a:prstGeom prst="line">
            <a:avLst/>
          </a:prstGeom>
          <a:ln w="38100">
            <a:solidFill>
              <a:srgbClr val="F5B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08760" y="53035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B2BED2"/>
                </a:solidFill>
                <a:latin typeface="Aptos"/>
              </a:rPr>
              <a:t>Actual weekly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3035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B2BED2"/>
                </a:solidFill>
                <a:latin typeface="Aptos"/>
              </a:rPr>
              <a:t>Predicted weekly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48640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E8EDF5"/>
                </a:solidFill>
                <a:latin typeface="Aptos"/>
              </a:rPr>
              <a:t>← historical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486400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5B137"/>
                </a:solidFill>
                <a:latin typeface="Aptos"/>
              </a:rPr>
              <a:t>future 8 weeks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1508760"/>
            <a:ext cx="3566160" cy="41605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8" y="1636776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What the final Power BI chart must show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2075688"/>
            <a:ext cx="31821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Week Start Date on X-axis</a:t>
            </a:r>
          </a:p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Actual weekly risk score as a solid line</a:t>
            </a:r>
          </a:p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Forecast weekly risk score as the forecast series</a:t>
            </a:r>
          </a:p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Confidence interval / uncertainty band</a:t>
            </a:r>
          </a:p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Repeat the same design for weekly incident count</a:t>
            </a:r>
          </a:p>
          <a:p>
            <a:pPr>
              <a:spcAft>
                <a:spcPts val="900"/>
              </a:spcAft>
              <a:defRPr sz="1350">
                <a:solidFill>
                  <a:srgbClr val="E8EDF5"/>
                </a:solidFill>
                <a:latin typeface="Aptos"/>
              </a:defRPr>
            </a:pPr>
            <a:r>
              <a:t>Clearly mark where actual data ends and forecast begins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Key Forecast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Observations are written as decision statements, not just descriptions of the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29260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0292" cy="2926080"/>
          </a:xfrm>
          <a:prstGeom prst="rect">
            <a:avLst/>
          </a:prstGeom>
          <a:solidFill>
            <a:srgbClr val="E84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63624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OBSERVATION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92808"/>
            <a:ext cx="3108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Risk is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3108960" cy="1737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The dashboard's historical TSI series shows an upward movement toward the end of the observed period. The forecast KPI is 72.22, above the current Avg TSI of 58.70.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74720" cy="29260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50292" cy="2926080"/>
          </a:xfrm>
          <a:prstGeom prst="rect">
            <a:avLst/>
          </a:prstGeom>
          <a:solidFill>
            <a:srgbClr val="F5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63624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OBSERVATION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108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Prepare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96312"/>
            <a:ext cx="3108960" cy="1737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A forecast of incident count should be monitored alongside risk score. Higher predicted volume can increase workload even when severity is stable.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417320"/>
            <a:ext cx="3474720" cy="292608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417320"/>
            <a:ext cx="50292" cy="2926080"/>
          </a:xfrm>
          <a:prstGeom prst="rect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563624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B2BED2"/>
                </a:solidFill>
                <a:latin typeface="Aptos"/>
              </a:rPr>
              <a:t>OBSERVATION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92808"/>
            <a:ext cx="3108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Monitor uncertainty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96312"/>
            <a:ext cx="3108960" cy="1737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E8EDF5"/>
                </a:solidFill>
                <a:latin typeface="Aptos"/>
              </a:rPr>
              <a:t>Forecasts are estimates. A widening confidence band means greater uncertainty and should trigger closer monitoring rather than automatic escalation.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B2BED2"/>
                </a:solidFill>
                <a:latin typeface="Aptos"/>
              </a:rPr>
              <a:t>Important: the screenshot supports the Forecast TSI value and historical trend, but does not show the 8 weekly forecast-count values. Those should be generated in the final Power BI forecast visual.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Executive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How a security manager should act on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9601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E84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33375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High risk + critical hotspot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6903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E8EDF5"/>
                </a:solidFill>
                <a:latin typeface="Aptos"/>
              </a:rPr>
              <a:t>Immediate investigation, enhanced monitoring and priority resource allocation.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32888"/>
            <a:ext cx="10927080" cy="9601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73152" cy="960120"/>
          </a:xfrm>
          <a:prstGeom prst="rect">
            <a:avLst/>
          </a:prstGeom>
          <a:solidFill>
            <a:srgbClr val="F5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51760"/>
            <a:ext cx="33375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Risk increasing + forecast increasing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24328"/>
            <a:ext cx="6903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E8EDF5"/>
                </a:solidFill>
                <a:latin typeface="Aptos"/>
              </a:rPr>
              <a:t>Prepare additional response capacity and increase monitoring frequency.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48456"/>
            <a:ext cx="10927080" cy="9601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48456"/>
            <a:ext cx="73152" cy="960120"/>
          </a:xfrm>
          <a:prstGeom prst="rect">
            <a:avLst/>
          </a:prstGeom>
          <a:solidFill>
            <a:srgbClr val="28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67328"/>
            <a:ext cx="33375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SLA below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9896"/>
            <a:ext cx="6903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E8EDF5"/>
                </a:solidFill>
                <a:latin typeface="Aptos"/>
              </a:rPr>
              <a:t>Review response bottlenecks, team workload and escalation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64024"/>
            <a:ext cx="10927080" cy="96012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764024"/>
            <a:ext cx="73152" cy="960120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82896"/>
            <a:ext cx="33375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High incident count but low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855464"/>
            <a:ext cx="6903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E8EDF5"/>
                </a:solidFill>
                <a:latin typeface="Aptos"/>
              </a:rPr>
              <a:t>Optimize operational workload; do not equate volume alone with criticality.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4BCDEB"/>
                </a:solidFill>
                <a:latin typeface="Aptos"/>
              </a:rPr>
              <a:t>Executive principle: measure → locate → predict → prioritize → act → monitor.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Milestone 4 — Final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914400" cy="41148"/>
          </a:xfrm>
          <a:prstGeom prst="rect">
            <a:avLst/>
          </a:prstGeom>
          <a:solidFill>
            <a:srgbClr val="4B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2BED2"/>
                </a:solidFill>
                <a:latin typeface="Aptos"/>
              </a:rPr>
              <a:t>From historical incidents to forward-looking risk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4BCDEB"/>
                </a:solidFill>
                <a:latin typeface="Aptos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3434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45336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What was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9194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Executive cybersecurity KPI layer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Historical daily and weekly temporal analysis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Risk and hotspot context inherited from previous milestones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Predictive analytics / forecasting workflow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8-week forecast design for weekly risk score and incident count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Decision-oriented observations and recommended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03520" cy="4343400"/>
          </a:xfrm>
          <a:prstGeom prst="roundRect">
            <a:avLst/>
          </a:prstGeom>
          <a:solidFill>
            <a:srgbClr val="17223C"/>
          </a:solidFill>
          <a:ln>
            <a:solidFill>
              <a:srgbClr val="34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45336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Final message to the 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49194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The dashboard does not only report what happened.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It explains the current risk position and where attention is required.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It adds a forward-looking layer through forecasting.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Executives can use the KPIs to prioritize resources and monitoring.</a:t>
            </a:r>
          </a:p>
          <a:p>
            <a:pPr>
              <a:spcAft>
                <a:spcPts val="900"/>
              </a:spcAft>
              <a:defRPr sz="1500">
                <a:solidFill>
                  <a:srgbClr val="E8EDF5"/>
                </a:solidFill>
                <a:latin typeface="Aptos"/>
              </a:defRPr>
            </a:pPr>
            <a:r>
              <a:t>The final step is to validate the forecast settings and display the complete 8-week weekly forecast series.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2BED2"/>
                </a:solidFill>
                <a:latin typeface="Aptos"/>
              </a:rPr>
              <a:t>Threat Intelligence Dashboard • Milestone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B2BE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